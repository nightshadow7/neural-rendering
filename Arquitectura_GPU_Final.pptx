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5591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Arquitectura GPU. El motor físico del aprendizaje profundo. Integrantes: Anthoni Hernández, Andrés Santiago Marín y Laura Valentina.</a:t>
            </a:r>
          </a:p>
          <a:p>
            <a:endParaRPr/>
          </a:p>
          <a:p>
            <a:r>
              <a:t>Material de base: Guía de los Transformers a la GPU y GPUdemo.ipynb, proporcionados para esta presentación. El arte es una ilustración conceptual original. NVIDIA, RTX y CUDA se muestran como tecnologías de referencia. Logo: NVIDIA, Logos &amp; Brand Guidelines, variante para fondo oscuro.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Fuentes: Guía de los Transformers a la GPU, pp. 1–3, y GPUdemo.ipynb, ejemplo de transformaciones geométricas.</a:t>
            </a:r>
          </a:p>
          <a:p>
            <a:endParaRPr/>
          </a:p>
          <a:p>
            <a:r>
              <a:t>GeForce 256 (1999), CUDA (2007), Tensor Cores con Volta (2017) y Blackwell (2024) son los hitos seleccionados. Las operaciones de gráficos y de redes neuronales comparten álgebra lineal. Las RNN tienen una dependencia temporal entre pasos. La atención permite paralelizar la secuencia disponible durante entrenamiento y prefill. La generación autorregresiva de nuevos tokens mantiene una dependencia secuencial. El arte representa la transición conceptual entre geometría y tensores.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GPUdemo.ipynb, resultados guardados de la celda de atención. CPU: 292,8 ms por atención. GPU Tesla T4: 3,4 ms. Aceleración reportada: 86 veces. Son resultados de esa ejecución, no una garantía universal ni una prueba ejecutada de nuevo para esta presentación.</a:t>
            </a:r>
          </a:p>
          <a:p>
            <a:endParaRPr/>
          </a:p>
          <a:p>
            <a:r>
              <a:t>La entrada contiene 4.096 tokens con dimensión 64. Q y K producen una tabla de atención de 4.096 × 4.096. La medición incluye productos matriciales y Softmax, usa un calentamiento y promedia 10 repeticiones, con sincronización de GPU. No es una multiplicación de dos matrices cuadradas de 4.096 × 4.096.</a:t>
            </a:r>
          </a:p>
          <a:p>
            <a:endParaRPr/>
          </a:p>
          <a:p>
            <a:r>
              <a:t>Los hilos forman warps de 32. Los bloques se asignan a SM. La T4 tiene 40 SM; algunas GPU de gama alta superan 100 SM. La CPU también usa paralelismo vectorial y multinúcleo. La distinción del esquema es especialización en baja latencia frente a alto throughput.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base: Guía de los Transformers a la GPU, pp. 3–4.</a:t>
            </a:r>
          </a:p>
          <a:p>
            <a:endParaRPr/>
          </a:p>
          <a:p>
            <a:r>
              <a:t>El tiling reutiliza porciones de matrices en memoria compartida y registros, reduciendo transferencias desde memoria global. Los Tensor Cores implementan operaciones matriciales de multiplicación y acumulación. El tamaño de la operación y su rendimiento dependen de la arquitectura, la instrucción y el formato; no se afirma que cualquier bloque o matriz se resuelva en un solo ciclo. Los mosaicos 4 × 4 de la ilustración son una metáfora didáctica.</a:t>
            </a:r>
          </a:p>
          <a:p>
            <a:endParaRPr/>
          </a:p>
          <a:p>
            <a:r>
              <a:t>La precisión mixta combina formatos de menor precisión con otros de mayor precisión cuando corresponde, por ejemplo para acumulaciones. FP4 requiere hardware compatible y no equivale a entrenar cualquier modelo completamente en cuatro bits. Fuente complementaria: NVIDIA, GB200 NVL72, sección de características de Blackwell.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Fuentes: Guía de los Transformers a la GPU, pp. 6–7. NVIDIA, GB200 NVL72, características y especificaciones; NVIDIA, NVLink-C2C.</a:t>
            </a:r>
          </a:p>
          <a:p>
            <a:endParaRPr/>
          </a:p>
          <a:p>
            <a:r>
              <a:t>La analogía del cuerpo se expresa únicamente con hardware: Blackwell procesa, la red comunica, BlueField-3 descarga funciones de infraestructura y seguridad, y el rack integra el sistema. NVLink-C2C conecta Grace con las GPU Blackwell a 900 GB/s bidireccionales agregados. En Blackwell, NVLink de quinta generación ofrece hasta 1,8 TB/s por GPU; los 900 GB/s entre GPU corresponden a la generación Hopper citada en el material de origen. NVSwitch conecta el dominio NVLink y Spectrum-X optimiza Ethernet entre sistemas, sin eliminar todos los posibles cuellos de botella. GB200 NVL72 integra 72 GPU y 36 CPU. No se confunden anchos de banda CPU-GPU, GPU-GPU ni de red Ethernet.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Fuentes: NVIDIA, DGX Spark User Guide, Hardware Overview, actualización del 10 de septiembre de 2026; NVIDIA, DGX Spark, ficha de producto; NVIDIA Newsroom, NVIDIA Announces DGX Spark and DGX Station Personal AI Computers.</a:t>
            </a:r>
          </a:p>
          <a:p>
            <a:endParaRPr/>
          </a:p>
          <a:p>
            <a:r>
              <a:t>El GB10 descrito corresponde al equipo DGX Spark. Se usa esta denominación para distinguirlo de productos y mensajes asociados a RTX. La configuración de 128 GB unifica la memoria de CPU y GPU. El pico de hasta 1 petaFLOP se especifica en FP4 con sparsity, no en FP32 ni como velocidad garantizada de un modelo. El soporte de hasta 200 mil millones de parámetros para inferencia requiere una representación de baja precisión y un presupuesto de memoria compatible con contexto, caché y ejecución. La memoria unificada evita determinadas duplicaciones y transferencias, pero no elimina las limitaciones de capacidad o ancho de banda. DGX Spark usa DGX OS; la demostración de cierre en Windows con RTX corresponde a otro entorno. Ilustración conceptual del hardware, no fotografía de producto.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Guía de los Transformers a la GPU, pp. 1–2 y 8–10, y GPUdemo.ipynb, ejemplo de atención con 4.096 tokens.</a:t>
            </a:r>
          </a:p>
          <a:p>
            <a:endParaRPr/>
          </a:p>
          <a:p>
            <a:r>
              <a:t>La metáfora de los 4.096 lectores corresponde a la atención: Q define consultas, K claves y V valores. Los productos punto calculan similitudes, se escalan y Softmax produce pesos para combinar V. La atención no implica 4.096 personas ni asignación literal de un lector a un núcleo físico.</a:t>
            </a:r>
          </a:p>
          <a:p>
            <a:endParaRPr/>
          </a:p>
          <a:p>
            <a:r>
              <a:t>La cifra de entrenamiento corresponde a una capa densa distinta del benchmark de atención. Para 1.024 muestras y pesos de 4.096 × 4.096, el producto del forward requiere aproximadamente 2 × 1.024 × 4.096 × 4.096 = 34.359.738.368 operaciones, contando una multiplicación y una suma como dos. Calcular gradientes respecto a entradas y pesos cuesta aproximadamente dos productos semejantes: unos 68,7 mil millones. El total aproximado de los productos es 103 mil millones, sin incluir activaciones, pérdida ni actualización. Backpropagation calcula gradientes; el optimizador actualiza los pesos.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Cierre y transición a la demostración práctica solicitada: inferencia de un modelo descargado en un equipo Windows con GPU NVIDIA RTX, sin APIs de inferencia remota. La diapositiva define el entorno de demostración; no constituye evidencia de que el equipo, el modelo o la visualización hayan sido ejecutados.</a:t>
            </a:r>
          </a:p>
          <a:p>
            <a:endParaRPr/>
          </a:p>
          <a:p>
            <a:r>
              <a:t>Observar latencia y consumo de VRAM durante una consulta. El grafo debe entenderse como una representación conceptual o instrumentada de los bloques y su flujo, no como una imagen literal de neuronas físicas ni como una medición de activaciones si no existe esa instrumentación. Los tiempos presentados en la diapositiva 3 pertenecen al notebook adjunto en Tesla T4, no a esta demostración RTX. Arte original: red abstracta de nodos y partículas.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1" descr="slide_01.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01</a:t>
            </a:r>
          </a:p>
        </p:txBody>
      </p:sp>
      <p:pic>
        <p:nvPicPr>
          <p:cNvPr id="5" name="NVIDIA, marca de referencia" descr="nvidia_logo.png"/>
          <p:cNvPicPr>
            <a:picLocks noChangeAspect="1"/>
          </p:cNvPicPr>
          <p:nvPr/>
        </p:nvPicPr>
        <p:blipFill>
          <a:blip r:embed="rId4"/>
          <a:stretch>
            <a:fillRect/>
          </a:stretch>
        </p:blipFill>
        <p:spPr>
          <a:xfrm>
            <a:off x="621792" y="502920"/>
            <a:ext cx="1572768" cy="290088"/>
          </a:xfrm>
          <a:prstGeom prst="rect">
            <a:avLst/>
          </a:prstGeom>
        </p:spPr>
      </p:pic>
      <p:sp>
        <p:nvSpPr>
          <p:cNvPr id="6" name="Texto editable"/>
          <p:cNvSpPr txBox="1"/>
          <p:nvPr/>
        </p:nvSpPr>
        <p:spPr>
          <a:xfrm>
            <a:off x="2532888" y="484632"/>
            <a:ext cx="713232" cy="310896"/>
          </a:xfrm>
          <a:prstGeom prst="rect">
            <a:avLst/>
          </a:prstGeom>
          <a:noFill/>
        </p:spPr>
        <p:txBody>
          <a:bodyPr wrap="square" lIns="0" tIns="0" rIns="0" bIns="0" anchor="t">
            <a:noAutofit/>
          </a:bodyPr>
          <a:lstStyle/>
          <a:p>
            <a:pPr algn="l">
              <a:lnSpc>
                <a:spcPct val="112000"/>
              </a:lnSpc>
              <a:spcBef>
                <a:spcPts val="0"/>
              </a:spcBef>
              <a:spcAft>
                <a:spcPts val="0"/>
              </a:spcAft>
              <a:defRPr sz="2100" b="1">
                <a:solidFill>
                  <a:srgbClr val="E2E8F0"/>
                </a:solidFill>
                <a:latin typeface="Arial"/>
              </a:defRPr>
            </a:pPr>
            <a:r>
              <a:rPr lang="es-CO" sz="2100" b="1">
                <a:solidFill>
                  <a:srgbClr val="E2E8F0"/>
                </a:solidFill>
                <a:latin typeface="Arial"/>
              </a:rPr>
              <a:t>RTX</a:t>
            </a:r>
          </a:p>
        </p:txBody>
      </p:sp>
      <p:sp>
        <p:nvSpPr>
          <p:cNvPr id="7" name="Texto editable"/>
          <p:cNvSpPr txBox="1"/>
          <p:nvPr/>
        </p:nvSpPr>
        <p:spPr>
          <a:xfrm>
            <a:off x="3465576" y="502920"/>
            <a:ext cx="1042415" cy="292608"/>
          </a:xfrm>
          <a:prstGeom prst="rect">
            <a:avLst/>
          </a:prstGeom>
          <a:noFill/>
        </p:spPr>
        <p:txBody>
          <a:bodyPr wrap="square" lIns="0" tIns="0" rIns="0" bIns="0" anchor="t">
            <a:noAutofit/>
          </a:bodyPr>
          <a:lstStyle/>
          <a:p>
            <a:pPr algn="l">
              <a:lnSpc>
                <a:spcPct val="112000"/>
              </a:lnSpc>
              <a:spcBef>
                <a:spcPts val="0"/>
              </a:spcBef>
              <a:spcAft>
                <a:spcPts val="0"/>
              </a:spcAft>
              <a:defRPr sz="1900" b="1">
                <a:solidFill>
                  <a:srgbClr val="76B900"/>
                </a:solidFill>
                <a:latin typeface="Arial"/>
              </a:defRPr>
            </a:pPr>
            <a:r>
              <a:rPr lang="es-CO" sz="1900" b="1">
                <a:solidFill>
                  <a:srgbClr val="76B900"/>
                </a:solidFill>
                <a:latin typeface="Arial"/>
              </a:rPr>
              <a:t>CUDA</a:t>
            </a:r>
          </a:p>
        </p:txBody>
      </p:sp>
      <p:sp>
        <p:nvSpPr>
          <p:cNvPr id="8" name="Título"/>
          <p:cNvSpPr txBox="1"/>
          <p:nvPr/>
        </p:nvSpPr>
        <p:spPr>
          <a:xfrm>
            <a:off x="594360" y="1572768"/>
            <a:ext cx="5897880" cy="859536"/>
          </a:xfrm>
          <a:prstGeom prst="rect">
            <a:avLst/>
          </a:prstGeom>
          <a:noFill/>
        </p:spPr>
        <p:txBody>
          <a:bodyPr wrap="square" lIns="0" tIns="0" rIns="0" bIns="0" anchor="t">
            <a:noAutofit/>
          </a:bodyPr>
          <a:lstStyle/>
          <a:p>
            <a:pPr algn="l">
              <a:lnSpc>
                <a:spcPct val="112000"/>
              </a:lnSpc>
              <a:spcBef>
                <a:spcPts val="0"/>
              </a:spcBef>
              <a:spcAft>
                <a:spcPts val="0"/>
              </a:spcAft>
              <a:defRPr sz="5500" b="1">
                <a:solidFill>
                  <a:srgbClr val="E2E8F0"/>
                </a:solidFill>
                <a:latin typeface="Arial"/>
              </a:defRPr>
            </a:pPr>
            <a:r>
              <a:rPr lang="es-CO" sz="5500" b="1">
                <a:solidFill>
                  <a:srgbClr val="E2E8F0"/>
                </a:solidFill>
                <a:latin typeface="Arial"/>
              </a:rPr>
              <a:t>Arquitectura</a:t>
            </a:r>
          </a:p>
        </p:txBody>
      </p:sp>
      <p:sp>
        <p:nvSpPr>
          <p:cNvPr id="9" name="Título"/>
          <p:cNvSpPr txBox="1"/>
          <p:nvPr/>
        </p:nvSpPr>
        <p:spPr>
          <a:xfrm>
            <a:off x="566928" y="2404872"/>
            <a:ext cx="5120640" cy="1069848"/>
          </a:xfrm>
          <a:prstGeom prst="rect">
            <a:avLst/>
          </a:prstGeom>
          <a:noFill/>
        </p:spPr>
        <p:txBody>
          <a:bodyPr wrap="square" lIns="0" tIns="0" rIns="0" bIns="0" anchor="t">
            <a:noAutofit/>
          </a:bodyPr>
          <a:lstStyle/>
          <a:p>
            <a:pPr algn="l">
              <a:lnSpc>
                <a:spcPct val="112000"/>
              </a:lnSpc>
              <a:spcBef>
                <a:spcPts val="0"/>
              </a:spcBef>
              <a:spcAft>
                <a:spcPts val="0"/>
              </a:spcAft>
              <a:defRPr sz="8300" b="1">
                <a:solidFill>
                  <a:srgbClr val="00F0FF"/>
                </a:solidFill>
                <a:latin typeface="Arial"/>
              </a:defRPr>
            </a:pPr>
            <a:r>
              <a:rPr lang="es-CO" sz="8300" b="1">
                <a:solidFill>
                  <a:srgbClr val="00F0FF"/>
                </a:solidFill>
                <a:latin typeface="Arial"/>
              </a:rPr>
              <a:t>GPU</a:t>
            </a:r>
          </a:p>
        </p:txBody>
      </p:sp>
      <p:sp>
        <p:nvSpPr>
          <p:cNvPr id="10" name="Texto editable"/>
          <p:cNvSpPr txBox="1"/>
          <p:nvPr/>
        </p:nvSpPr>
        <p:spPr>
          <a:xfrm>
            <a:off x="630936" y="3666744"/>
            <a:ext cx="5303520" cy="804672"/>
          </a:xfrm>
          <a:prstGeom prst="rect">
            <a:avLst/>
          </a:prstGeom>
          <a:noFill/>
        </p:spPr>
        <p:txBody>
          <a:bodyPr wrap="square" lIns="0" tIns="0" rIns="0" bIns="0" anchor="t">
            <a:noAutofit/>
          </a:bodyPr>
          <a:lstStyle/>
          <a:p>
            <a:pPr algn="l">
              <a:lnSpc>
                <a:spcPct val="113000"/>
              </a:lnSpc>
              <a:spcBef>
                <a:spcPts val="0"/>
              </a:spcBef>
              <a:spcAft>
                <a:spcPts val="0"/>
              </a:spcAft>
              <a:defRPr sz="2500" b="0">
                <a:solidFill>
                  <a:srgbClr val="E2E8F0"/>
                </a:solidFill>
                <a:latin typeface="Arial"/>
              </a:defRPr>
            </a:pPr>
            <a:r>
              <a:rPr lang="es-CO" sz="2500" b="0">
                <a:solidFill>
                  <a:srgbClr val="E2E8F0"/>
                </a:solidFill>
                <a:latin typeface="Arial"/>
              </a:rPr>
              <a:t>El Motor Físico del</a:t>
            </a:r>
          </a:p>
          <a:p>
            <a:pPr algn="l">
              <a:lnSpc>
                <a:spcPct val="113000"/>
              </a:lnSpc>
              <a:spcBef>
                <a:spcPts val="0"/>
              </a:spcBef>
              <a:spcAft>
                <a:spcPts val="0"/>
              </a:spcAft>
              <a:defRPr sz="2500" b="0">
                <a:solidFill>
                  <a:srgbClr val="E2E8F0"/>
                </a:solidFill>
                <a:latin typeface="Arial"/>
              </a:defRPr>
            </a:pPr>
            <a:r>
              <a:rPr lang="es-CO" sz="2500" b="0">
                <a:solidFill>
                  <a:srgbClr val="E2E8F0"/>
                </a:solidFill>
                <a:latin typeface="Arial"/>
              </a:rPr>
              <a:t>Aprendizaje Profundo</a:t>
            </a:r>
          </a:p>
        </p:txBody>
      </p:sp>
      <p:sp>
        <p:nvSpPr>
          <p:cNvPr id="11" name="Tarjeta translúcida"/>
          <p:cNvSpPr/>
          <p:nvPr/>
        </p:nvSpPr>
        <p:spPr>
          <a:xfrm>
            <a:off x="594360" y="4709160"/>
            <a:ext cx="3583745" cy="1472184"/>
          </a:xfrm>
          <a:prstGeom prst="roundRect">
            <a:avLst>
              <a:gd name="adj" fmla="val 10000"/>
            </a:avLst>
          </a:prstGeom>
          <a:solidFill>
            <a:srgbClr val="111827">
              <a:alpha val="76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o editable"/>
          <p:cNvSpPr txBox="1"/>
          <p:nvPr/>
        </p:nvSpPr>
        <p:spPr>
          <a:xfrm>
            <a:off x="924951" y="4831197"/>
            <a:ext cx="3931920" cy="813816"/>
          </a:xfrm>
          <a:prstGeom prst="rect">
            <a:avLst/>
          </a:prstGeom>
          <a:noFill/>
        </p:spPr>
        <p:txBody>
          <a:bodyPr wrap="square" lIns="0" tIns="0" rIns="0" bIns="0" anchor="t">
            <a:noAutofit/>
          </a:bodyPr>
          <a:lstStyle/>
          <a:p>
            <a:pPr>
              <a:lnSpc>
                <a:spcPct val="113000"/>
              </a:lnSpc>
              <a:spcBef>
                <a:spcPts val="0"/>
              </a:spcBef>
              <a:spcAft>
                <a:spcPts val="0"/>
              </a:spcAft>
              <a:defRPr sz="1700" b="0">
                <a:solidFill>
                  <a:srgbClr val="E2E8F0"/>
                </a:solidFill>
                <a:latin typeface="Arial"/>
              </a:defRPr>
            </a:pPr>
            <a:r>
              <a:rPr lang="es-CO" sz="1700" b="0" dirty="0" err="1">
                <a:solidFill>
                  <a:srgbClr val="E2E8F0"/>
                </a:solidFill>
                <a:latin typeface="Arial"/>
              </a:rPr>
              <a:t>Anthoni</a:t>
            </a:r>
            <a:r>
              <a:rPr lang="es-CO" sz="1700" b="0" dirty="0">
                <a:solidFill>
                  <a:srgbClr val="E2E8F0"/>
                </a:solidFill>
                <a:latin typeface="Arial"/>
              </a:rPr>
              <a:t> Hernández 2191198</a:t>
            </a:r>
          </a:p>
          <a:p>
            <a:pPr>
              <a:lnSpc>
                <a:spcPct val="113000"/>
              </a:lnSpc>
              <a:spcBef>
                <a:spcPts val="0"/>
              </a:spcBef>
              <a:spcAft>
                <a:spcPts val="0"/>
              </a:spcAft>
              <a:defRPr sz="1700" b="0">
                <a:solidFill>
                  <a:srgbClr val="E2E8F0"/>
                </a:solidFill>
                <a:latin typeface="Arial"/>
              </a:defRPr>
            </a:pPr>
            <a:r>
              <a:rPr lang="es-CO" sz="1700" b="0" dirty="0">
                <a:solidFill>
                  <a:srgbClr val="E2E8F0"/>
                </a:solidFill>
                <a:latin typeface="Arial"/>
              </a:rPr>
              <a:t>Laura Ortiz 2243553</a:t>
            </a:r>
          </a:p>
          <a:p>
            <a:pPr>
              <a:lnSpc>
                <a:spcPct val="113000"/>
              </a:lnSpc>
              <a:spcBef>
                <a:spcPts val="0"/>
              </a:spcBef>
              <a:spcAft>
                <a:spcPts val="0"/>
              </a:spcAft>
              <a:defRPr sz="1700" b="0">
                <a:solidFill>
                  <a:srgbClr val="E2E8F0"/>
                </a:solidFill>
                <a:latin typeface="Arial"/>
              </a:defRPr>
            </a:pPr>
            <a:r>
              <a:rPr lang="es-CO" sz="1700" dirty="0">
                <a:solidFill>
                  <a:srgbClr val="E2E8F0"/>
                </a:solidFill>
                <a:latin typeface="Arial"/>
              </a:rPr>
              <a:t>Angie Boada 2243672</a:t>
            </a:r>
          </a:p>
          <a:p>
            <a:pPr>
              <a:lnSpc>
                <a:spcPct val="113000"/>
              </a:lnSpc>
              <a:defRPr sz="1700" b="0">
                <a:solidFill>
                  <a:srgbClr val="E2E8F0"/>
                </a:solidFill>
                <a:latin typeface="Arial"/>
              </a:defRPr>
            </a:pPr>
            <a:r>
              <a:rPr lang="es-CO" sz="1700" b="0" dirty="0">
                <a:solidFill>
                  <a:srgbClr val="E2E8F0"/>
                </a:solidFill>
                <a:latin typeface="Arial"/>
              </a:rPr>
              <a:t>Andrés Marín 2243556</a:t>
            </a:r>
          </a:p>
          <a:p>
            <a:pPr algn="l">
              <a:lnSpc>
                <a:spcPct val="113000"/>
              </a:lnSpc>
              <a:spcBef>
                <a:spcPts val="0"/>
              </a:spcBef>
              <a:spcAft>
                <a:spcPts val="0"/>
              </a:spcAft>
              <a:defRPr sz="1700" b="0">
                <a:solidFill>
                  <a:srgbClr val="E2E8F0"/>
                </a:solidFill>
                <a:latin typeface="Arial"/>
              </a:defRPr>
            </a:pPr>
            <a:endParaRPr lang="es-CO" sz="1700" b="0" dirty="0">
              <a:solidFill>
                <a:srgbClr val="E2E8F0"/>
              </a:solidFill>
              <a:latin typeface="Arial"/>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2" descr="slide_02.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De Píxeles a Tensores</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02</a:t>
            </a:r>
          </a:p>
        </p:txBody>
      </p:sp>
      <p:sp>
        <p:nvSpPr>
          <p:cNvPr id="6" name="Tarjeta translúcida"/>
          <p:cNvSpPr/>
          <p:nvPr/>
        </p:nvSpPr>
        <p:spPr>
          <a:xfrm>
            <a:off x="603504" y="1472184"/>
            <a:ext cx="4754880" cy="1371600"/>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32104" y="1645920"/>
            <a:ext cx="4297680" cy="329184"/>
          </a:xfrm>
          <a:prstGeom prst="rect">
            <a:avLst/>
          </a:prstGeom>
          <a:noFill/>
        </p:spPr>
        <p:txBody>
          <a:bodyPr wrap="square" lIns="0" tIns="0" rIns="0" bIns="0" anchor="t">
            <a:noAutofit/>
          </a:bodyPr>
          <a:lstStyle/>
          <a:p>
            <a:pPr algn="l">
              <a:lnSpc>
                <a:spcPct val="112000"/>
              </a:lnSpc>
              <a:spcBef>
                <a:spcPts val="0"/>
              </a:spcBef>
              <a:spcAft>
                <a:spcPts val="0"/>
              </a:spcAft>
              <a:defRPr sz="2100" b="1">
                <a:solidFill>
                  <a:srgbClr val="00F0FF"/>
                </a:solidFill>
                <a:latin typeface="Arial"/>
              </a:defRPr>
            </a:pPr>
            <a:r>
              <a:rPr lang="es-CO" sz="2100" b="1">
                <a:solidFill>
                  <a:srgbClr val="00F0FF"/>
                </a:solidFill>
                <a:latin typeface="Arial"/>
              </a:rPr>
              <a:t>Paradoja 3D</a:t>
            </a:r>
          </a:p>
        </p:txBody>
      </p:sp>
      <p:sp>
        <p:nvSpPr>
          <p:cNvPr id="8" name="Texto editable"/>
          <p:cNvSpPr txBox="1"/>
          <p:nvPr/>
        </p:nvSpPr>
        <p:spPr>
          <a:xfrm>
            <a:off x="832104" y="2093976"/>
            <a:ext cx="4297680" cy="640079"/>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Rotar y proyectar videojuegos ya exigía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multiplicar matrices de forma masiva.</a:t>
            </a:r>
          </a:p>
        </p:txBody>
      </p:sp>
      <p:sp>
        <p:nvSpPr>
          <p:cNvPr id="9" name="Tarjeta translúcida"/>
          <p:cNvSpPr/>
          <p:nvPr/>
        </p:nvSpPr>
        <p:spPr>
          <a:xfrm>
            <a:off x="1143000" y="3017520"/>
            <a:ext cx="6519672" cy="1463040"/>
          </a:xfrm>
          <a:prstGeom prst="roundRect">
            <a:avLst>
              <a:gd name="adj" fmla="val 10000"/>
            </a:avLst>
          </a:prstGeom>
          <a:solidFill>
            <a:srgbClr val="111827">
              <a:alpha val="87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editable"/>
          <p:cNvSpPr txBox="1"/>
          <p:nvPr/>
        </p:nvSpPr>
        <p:spPr>
          <a:xfrm>
            <a:off x="1389888" y="3191256"/>
            <a:ext cx="5212080" cy="320040"/>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Evolución clave</a:t>
            </a:r>
          </a:p>
        </p:txBody>
      </p:sp>
      <p:sp>
        <p:nvSpPr>
          <p:cNvPr id="11" name="Texto editable"/>
          <p:cNvSpPr txBox="1"/>
          <p:nvPr/>
        </p:nvSpPr>
        <p:spPr>
          <a:xfrm>
            <a:off x="1389888" y="3639312"/>
            <a:ext cx="1417320" cy="329184"/>
          </a:xfrm>
          <a:prstGeom prst="rect">
            <a:avLst/>
          </a:prstGeom>
          <a:noFill/>
        </p:spPr>
        <p:txBody>
          <a:bodyPr wrap="square" lIns="0" tIns="0" rIns="0" bIns="0" anchor="t">
            <a:noAutofit/>
          </a:bodyPr>
          <a:lstStyle/>
          <a:p>
            <a:pPr algn="l">
              <a:lnSpc>
                <a:spcPct val="112000"/>
              </a:lnSpc>
              <a:spcBef>
                <a:spcPts val="0"/>
              </a:spcBef>
              <a:spcAft>
                <a:spcPts val="0"/>
              </a:spcAft>
              <a:defRPr sz="2400" b="1">
                <a:solidFill>
                  <a:srgbClr val="E2E8F0"/>
                </a:solidFill>
                <a:latin typeface="Arial"/>
              </a:defRPr>
            </a:pPr>
            <a:r>
              <a:rPr lang="es-CO" sz="2400" b="1">
                <a:solidFill>
                  <a:srgbClr val="E2E8F0"/>
                </a:solidFill>
                <a:latin typeface="Arial"/>
              </a:rPr>
              <a:t>1999</a:t>
            </a:r>
          </a:p>
        </p:txBody>
      </p:sp>
      <p:sp>
        <p:nvSpPr>
          <p:cNvPr id="12" name="Texto editable"/>
          <p:cNvSpPr txBox="1"/>
          <p:nvPr/>
        </p:nvSpPr>
        <p:spPr>
          <a:xfrm>
            <a:off x="1389888" y="4050791"/>
            <a:ext cx="1417320" cy="256032"/>
          </a:xfrm>
          <a:prstGeom prst="rect">
            <a:avLst/>
          </a:prstGeom>
          <a:noFill/>
        </p:spPr>
        <p:txBody>
          <a:bodyPr wrap="square" lIns="0" tIns="0" rIns="0" bIns="0" anchor="t">
            <a:noAutofit/>
          </a:bodyPr>
          <a:lstStyle/>
          <a:p>
            <a:pPr algn="l">
              <a:lnSpc>
                <a:spcPct val="112000"/>
              </a:lnSpc>
              <a:spcBef>
                <a:spcPts val="0"/>
              </a:spcBef>
              <a:spcAft>
                <a:spcPts val="0"/>
              </a:spcAft>
              <a:defRPr sz="1550" b="0">
                <a:solidFill>
                  <a:srgbClr val="A9B5C8"/>
                </a:solidFill>
                <a:latin typeface="Arial"/>
              </a:defRPr>
            </a:pPr>
            <a:r>
              <a:rPr lang="es-CO" sz="1550" b="0">
                <a:solidFill>
                  <a:srgbClr val="A9B5C8"/>
                </a:solidFill>
                <a:latin typeface="Arial"/>
              </a:rPr>
              <a:t>GeForce 256</a:t>
            </a:r>
          </a:p>
        </p:txBody>
      </p:sp>
      <p:sp>
        <p:nvSpPr>
          <p:cNvPr id="13" name="Texto editable"/>
          <p:cNvSpPr txBox="1"/>
          <p:nvPr/>
        </p:nvSpPr>
        <p:spPr>
          <a:xfrm>
            <a:off x="3008376" y="3639312"/>
            <a:ext cx="1097280" cy="329184"/>
          </a:xfrm>
          <a:prstGeom prst="rect">
            <a:avLst/>
          </a:prstGeom>
          <a:noFill/>
        </p:spPr>
        <p:txBody>
          <a:bodyPr wrap="square" lIns="0" tIns="0" rIns="0" bIns="0" anchor="t">
            <a:noAutofit/>
          </a:bodyPr>
          <a:lstStyle/>
          <a:p>
            <a:pPr algn="l">
              <a:lnSpc>
                <a:spcPct val="112000"/>
              </a:lnSpc>
              <a:spcBef>
                <a:spcPts val="0"/>
              </a:spcBef>
              <a:spcAft>
                <a:spcPts val="0"/>
              </a:spcAft>
              <a:defRPr sz="2400" b="1">
                <a:solidFill>
                  <a:srgbClr val="E2E8F0"/>
                </a:solidFill>
                <a:latin typeface="Arial"/>
              </a:defRPr>
            </a:pPr>
            <a:r>
              <a:rPr lang="es-CO" sz="2400" b="1">
                <a:solidFill>
                  <a:srgbClr val="E2E8F0"/>
                </a:solidFill>
                <a:latin typeface="Arial"/>
              </a:rPr>
              <a:t>2007</a:t>
            </a:r>
          </a:p>
        </p:txBody>
      </p:sp>
      <p:sp>
        <p:nvSpPr>
          <p:cNvPr id="14" name="Texto editable"/>
          <p:cNvSpPr txBox="1"/>
          <p:nvPr/>
        </p:nvSpPr>
        <p:spPr>
          <a:xfrm>
            <a:off x="3008376" y="4050791"/>
            <a:ext cx="1097280" cy="256032"/>
          </a:xfrm>
          <a:prstGeom prst="rect">
            <a:avLst/>
          </a:prstGeom>
          <a:noFill/>
        </p:spPr>
        <p:txBody>
          <a:bodyPr wrap="square" lIns="0" tIns="0" rIns="0" bIns="0" anchor="t">
            <a:noAutofit/>
          </a:bodyPr>
          <a:lstStyle/>
          <a:p>
            <a:pPr algn="l">
              <a:lnSpc>
                <a:spcPct val="112000"/>
              </a:lnSpc>
              <a:spcBef>
                <a:spcPts val="0"/>
              </a:spcBef>
              <a:spcAft>
                <a:spcPts val="0"/>
              </a:spcAft>
              <a:defRPr sz="1550" b="0">
                <a:solidFill>
                  <a:srgbClr val="A9B5C8"/>
                </a:solidFill>
                <a:latin typeface="Arial"/>
              </a:defRPr>
            </a:pPr>
            <a:r>
              <a:rPr lang="es-CO" sz="1550" b="0">
                <a:solidFill>
                  <a:srgbClr val="A9B5C8"/>
                </a:solidFill>
                <a:latin typeface="Arial"/>
              </a:rPr>
              <a:t>CUDA</a:t>
            </a:r>
          </a:p>
        </p:txBody>
      </p:sp>
      <p:sp>
        <p:nvSpPr>
          <p:cNvPr id="15" name="Texto editable"/>
          <p:cNvSpPr txBox="1"/>
          <p:nvPr/>
        </p:nvSpPr>
        <p:spPr>
          <a:xfrm>
            <a:off x="4434840" y="3639312"/>
            <a:ext cx="1463040" cy="329184"/>
          </a:xfrm>
          <a:prstGeom prst="rect">
            <a:avLst/>
          </a:prstGeom>
          <a:noFill/>
        </p:spPr>
        <p:txBody>
          <a:bodyPr wrap="square" lIns="0" tIns="0" rIns="0" bIns="0" anchor="t">
            <a:noAutofit/>
          </a:bodyPr>
          <a:lstStyle/>
          <a:p>
            <a:pPr algn="l">
              <a:lnSpc>
                <a:spcPct val="112000"/>
              </a:lnSpc>
              <a:spcBef>
                <a:spcPts val="0"/>
              </a:spcBef>
              <a:spcAft>
                <a:spcPts val="0"/>
              </a:spcAft>
              <a:defRPr sz="2400" b="1">
                <a:solidFill>
                  <a:srgbClr val="E2E8F0"/>
                </a:solidFill>
                <a:latin typeface="Arial"/>
              </a:defRPr>
            </a:pPr>
            <a:r>
              <a:rPr lang="es-CO" sz="2400" b="1">
                <a:solidFill>
                  <a:srgbClr val="E2E8F0"/>
                </a:solidFill>
                <a:latin typeface="Arial"/>
              </a:rPr>
              <a:t>2017</a:t>
            </a:r>
          </a:p>
        </p:txBody>
      </p:sp>
      <p:sp>
        <p:nvSpPr>
          <p:cNvPr id="16" name="Texto editable"/>
          <p:cNvSpPr txBox="1"/>
          <p:nvPr/>
        </p:nvSpPr>
        <p:spPr>
          <a:xfrm>
            <a:off x="4434840" y="4050791"/>
            <a:ext cx="1463040" cy="256032"/>
          </a:xfrm>
          <a:prstGeom prst="rect">
            <a:avLst/>
          </a:prstGeom>
          <a:noFill/>
        </p:spPr>
        <p:txBody>
          <a:bodyPr wrap="square" lIns="0" tIns="0" rIns="0" bIns="0" anchor="t">
            <a:noAutofit/>
          </a:bodyPr>
          <a:lstStyle/>
          <a:p>
            <a:pPr algn="l">
              <a:lnSpc>
                <a:spcPct val="112000"/>
              </a:lnSpc>
              <a:spcBef>
                <a:spcPts val="0"/>
              </a:spcBef>
              <a:spcAft>
                <a:spcPts val="0"/>
              </a:spcAft>
              <a:defRPr sz="1550" b="0">
                <a:solidFill>
                  <a:srgbClr val="A9B5C8"/>
                </a:solidFill>
                <a:latin typeface="Arial"/>
              </a:defRPr>
            </a:pPr>
            <a:r>
              <a:rPr lang="es-CO" sz="1550" b="0">
                <a:solidFill>
                  <a:srgbClr val="A9B5C8"/>
                </a:solidFill>
                <a:latin typeface="Arial"/>
              </a:rPr>
              <a:t>Tensor Cores</a:t>
            </a:r>
          </a:p>
        </p:txBody>
      </p:sp>
      <p:sp>
        <p:nvSpPr>
          <p:cNvPr id="17" name="Texto editable"/>
          <p:cNvSpPr txBox="1"/>
          <p:nvPr/>
        </p:nvSpPr>
        <p:spPr>
          <a:xfrm>
            <a:off x="6089904" y="3639312"/>
            <a:ext cx="1325880" cy="329184"/>
          </a:xfrm>
          <a:prstGeom prst="rect">
            <a:avLst/>
          </a:prstGeom>
          <a:noFill/>
        </p:spPr>
        <p:txBody>
          <a:bodyPr wrap="square" lIns="0" tIns="0" rIns="0" bIns="0" anchor="t">
            <a:noAutofit/>
          </a:bodyPr>
          <a:lstStyle/>
          <a:p>
            <a:pPr algn="l">
              <a:lnSpc>
                <a:spcPct val="112000"/>
              </a:lnSpc>
              <a:spcBef>
                <a:spcPts val="0"/>
              </a:spcBef>
              <a:spcAft>
                <a:spcPts val="0"/>
              </a:spcAft>
              <a:defRPr sz="2400" b="1">
                <a:solidFill>
                  <a:srgbClr val="E2E8F0"/>
                </a:solidFill>
                <a:latin typeface="Arial"/>
              </a:defRPr>
            </a:pPr>
            <a:r>
              <a:rPr lang="es-CO" sz="2400" b="1">
                <a:solidFill>
                  <a:srgbClr val="E2E8F0"/>
                </a:solidFill>
                <a:latin typeface="Arial"/>
              </a:rPr>
              <a:t>2024</a:t>
            </a:r>
          </a:p>
        </p:txBody>
      </p:sp>
      <p:sp>
        <p:nvSpPr>
          <p:cNvPr id="18" name="Texto editable"/>
          <p:cNvSpPr txBox="1"/>
          <p:nvPr/>
        </p:nvSpPr>
        <p:spPr>
          <a:xfrm>
            <a:off x="6089904" y="4050791"/>
            <a:ext cx="1325880" cy="256032"/>
          </a:xfrm>
          <a:prstGeom prst="rect">
            <a:avLst/>
          </a:prstGeom>
          <a:noFill/>
        </p:spPr>
        <p:txBody>
          <a:bodyPr wrap="square" lIns="0" tIns="0" rIns="0" bIns="0" anchor="t">
            <a:noAutofit/>
          </a:bodyPr>
          <a:lstStyle/>
          <a:p>
            <a:pPr algn="l">
              <a:lnSpc>
                <a:spcPct val="112000"/>
              </a:lnSpc>
              <a:spcBef>
                <a:spcPts val="0"/>
              </a:spcBef>
              <a:spcAft>
                <a:spcPts val="0"/>
              </a:spcAft>
              <a:defRPr sz="1550" b="0">
                <a:solidFill>
                  <a:srgbClr val="A9B5C8"/>
                </a:solidFill>
                <a:latin typeface="Arial"/>
              </a:defRPr>
            </a:pPr>
            <a:r>
              <a:rPr lang="es-CO" sz="1550" b="0">
                <a:solidFill>
                  <a:srgbClr val="A9B5C8"/>
                </a:solidFill>
                <a:latin typeface="Arial"/>
              </a:rPr>
              <a:t>Blackwell</a:t>
            </a:r>
          </a:p>
        </p:txBody>
      </p:sp>
      <p:sp>
        <p:nvSpPr>
          <p:cNvPr id="19" name="Tarjeta translúcida"/>
          <p:cNvSpPr/>
          <p:nvPr/>
        </p:nvSpPr>
        <p:spPr>
          <a:xfrm>
            <a:off x="5907024" y="4928616"/>
            <a:ext cx="5669280" cy="1362456"/>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o editable"/>
          <p:cNvSpPr txBox="1"/>
          <p:nvPr/>
        </p:nvSpPr>
        <p:spPr>
          <a:xfrm>
            <a:off x="6135624" y="5102352"/>
            <a:ext cx="5212080"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El salto Transformer</a:t>
            </a:r>
          </a:p>
        </p:txBody>
      </p:sp>
      <p:sp>
        <p:nvSpPr>
          <p:cNvPr id="21" name="Texto editable"/>
          <p:cNvSpPr txBox="1"/>
          <p:nvPr/>
        </p:nvSpPr>
        <p:spPr>
          <a:xfrm>
            <a:off x="6135624" y="5550407"/>
            <a:ext cx="5212080" cy="630936"/>
          </a:xfrm>
          <a:prstGeom prst="rect">
            <a:avLst/>
          </a:prstGeom>
          <a:noFill/>
        </p:spPr>
        <p:txBody>
          <a:bodyPr wrap="square" lIns="0" tIns="0" rIns="0" bIns="0" anchor="t">
            <a:noAutofit/>
          </a:bodyPr>
          <a:lstStyle/>
          <a:p>
            <a:pPr algn="l">
              <a:lnSpc>
                <a:spcPct val="112000"/>
              </a:lnSpc>
              <a:spcBef>
                <a:spcPts val="0"/>
              </a:spcBef>
              <a:spcAft>
                <a:spcPts val="0"/>
              </a:spcAft>
              <a:defRPr sz="1730" b="0">
                <a:solidFill>
                  <a:srgbClr val="E2E8F0"/>
                </a:solidFill>
                <a:latin typeface="Arial"/>
              </a:defRPr>
            </a:pPr>
            <a:r>
              <a:rPr lang="es-CO" sz="1730" b="0">
                <a:solidFill>
                  <a:srgbClr val="E2E8F0"/>
                </a:solidFill>
                <a:latin typeface="Arial"/>
              </a:rPr>
              <a:t>RNN: palabra a palabra. Transformer: secuencia</a:t>
            </a:r>
          </a:p>
          <a:p>
            <a:pPr algn="l">
              <a:lnSpc>
                <a:spcPct val="112000"/>
              </a:lnSpc>
              <a:spcBef>
                <a:spcPts val="0"/>
              </a:spcBef>
              <a:spcAft>
                <a:spcPts val="0"/>
              </a:spcAft>
              <a:defRPr sz="1730" b="0">
                <a:solidFill>
                  <a:srgbClr val="E2E8F0"/>
                </a:solidFill>
                <a:latin typeface="Arial"/>
              </a:defRPr>
            </a:pPr>
            <a:r>
              <a:rPr lang="es-CO" sz="1730" b="0">
                <a:solidFill>
                  <a:srgbClr val="E2E8F0"/>
                </a:solidFill>
                <a:latin typeface="Arial"/>
              </a:rPr>
              <a:t>en paralelo durante entrenamiento y lectura inicial.</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3" descr="slide_03.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CPU vs. GPU</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03</a:t>
            </a:r>
          </a:p>
        </p:txBody>
      </p:sp>
      <p:sp>
        <p:nvSpPr>
          <p:cNvPr id="6" name="Tarjeta translúcida"/>
          <p:cNvSpPr/>
          <p:nvPr/>
        </p:nvSpPr>
        <p:spPr>
          <a:xfrm>
            <a:off x="603504" y="1481328"/>
            <a:ext cx="4773168" cy="2048256"/>
          </a:xfrm>
          <a:prstGeom prst="roundRect">
            <a:avLst>
              <a:gd name="adj" fmla="val 10000"/>
            </a:avLst>
          </a:prstGeom>
          <a:solidFill>
            <a:srgbClr val="111827">
              <a:alpha val="86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59536" y="1682496"/>
            <a:ext cx="4206240" cy="301752"/>
          </a:xfrm>
          <a:prstGeom prst="rect">
            <a:avLst/>
          </a:prstGeom>
          <a:noFill/>
        </p:spPr>
        <p:txBody>
          <a:bodyPr wrap="square" lIns="0" tIns="0" rIns="0" bIns="0" anchor="t">
            <a:noAutofit/>
          </a:bodyPr>
          <a:lstStyle/>
          <a:p>
            <a:pPr algn="l">
              <a:lnSpc>
                <a:spcPct val="112000"/>
              </a:lnSpc>
              <a:spcBef>
                <a:spcPts val="0"/>
              </a:spcBef>
              <a:spcAft>
                <a:spcPts val="0"/>
              </a:spcAft>
              <a:defRPr sz="1800" b="1">
                <a:solidFill>
                  <a:srgbClr val="A9B5C8"/>
                </a:solidFill>
                <a:latin typeface="Arial"/>
              </a:defRPr>
            </a:pPr>
            <a:r>
              <a:rPr lang="es-CO" sz="1800" b="1">
                <a:solidFill>
                  <a:srgbClr val="A9B5C8"/>
                </a:solidFill>
                <a:latin typeface="Arial"/>
              </a:rPr>
              <a:t>CPU</a:t>
            </a:r>
          </a:p>
        </p:txBody>
      </p:sp>
      <p:sp>
        <p:nvSpPr>
          <p:cNvPr id="8" name="Texto editable"/>
          <p:cNvSpPr txBox="1"/>
          <p:nvPr/>
        </p:nvSpPr>
        <p:spPr>
          <a:xfrm>
            <a:off x="832104" y="2039112"/>
            <a:ext cx="4306824" cy="713232"/>
          </a:xfrm>
          <a:prstGeom prst="rect">
            <a:avLst/>
          </a:prstGeom>
          <a:noFill/>
        </p:spPr>
        <p:txBody>
          <a:bodyPr wrap="square" lIns="0" tIns="0" rIns="0" bIns="0" anchor="t">
            <a:noAutofit/>
          </a:bodyPr>
          <a:lstStyle/>
          <a:p>
            <a:pPr algn="l">
              <a:lnSpc>
                <a:spcPct val="112000"/>
              </a:lnSpc>
              <a:spcBef>
                <a:spcPts val="0"/>
              </a:spcBef>
              <a:spcAft>
                <a:spcPts val="0"/>
              </a:spcAft>
              <a:defRPr sz="5200" b="1">
                <a:solidFill>
                  <a:srgbClr val="E2E8F0"/>
                </a:solidFill>
                <a:latin typeface="Arial"/>
              </a:defRPr>
            </a:pPr>
            <a:r>
              <a:rPr lang="es-CO" sz="5200" b="1">
                <a:solidFill>
                  <a:srgbClr val="E2E8F0"/>
                </a:solidFill>
                <a:latin typeface="Arial"/>
              </a:rPr>
              <a:t>292,8 ms</a:t>
            </a:r>
          </a:p>
        </p:txBody>
      </p:sp>
      <p:sp>
        <p:nvSpPr>
          <p:cNvPr id="9" name="Texto editable"/>
          <p:cNvSpPr txBox="1"/>
          <p:nvPr/>
        </p:nvSpPr>
        <p:spPr>
          <a:xfrm>
            <a:off x="868680" y="2807208"/>
            <a:ext cx="4224528" cy="484632"/>
          </a:xfrm>
          <a:prstGeom prst="rect">
            <a:avLst/>
          </a:prstGeom>
          <a:noFill/>
        </p:spPr>
        <p:txBody>
          <a:bodyPr wrap="square" lIns="0" tIns="0" rIns="0" bIns="0" anchor="t">
            <a:noAutofit/>
          </a:bodyPr>
          <a:lstStyle/>
          <a:p>
            <a:pPr algn="l">
              <a:lnSpc>
                <a:spcPct val="112000"/>
              </a:lnSpc>
              <a:spcBef>
                <a:spcPts val="0"/>
              </a:spcBef>
              <a:spcAft>
                <a:spcPts val="0"/>
              </a:spcAft>
              <a:defRPr sz="1760" b="0">
                <a:solidFill>
                  <a:srgbClr val="E2E8F0"/>
                </a:solidFill>
                <a:latin typeface="Arial"/>
              </a:defRPr>
            </a:pPr>
            <a:r>
              <a:rPr lang="es-CO" sz="1760" b="0">
                <a:solidFill>
                  <a:srgbClr val="E2E8F0"/>
                </a:solidFill>
                <a:latin typeface="Arial"/>
              </a:rPr>
              <a:t>Pocos núcleos potentes, baja latencia</a:t>
            </a:r>
          </a:p>
          <a:p>
            <a:pPr algn="l">
              <a:lnSpc>
                <a:spcPct val="112000"/>
              </a:lnSpc>
              <a:spcBef>
                <a:spcPts val="0"/>
              </a:spcBef>
              <a:spcAft>
                <a:spcPts val="0"/>
              </a:spcAft>
              <a:defRPr sz="1760" b="0">
                <a:solidFill>
                  <a:srgbClr val="E2E8F0"/>
                </a:solidFill>
                <a:latin typeface="Arial"/>
              </a:defRPr>
            </a:pPr>
            <a:r>
              <a:rPr lang="es-CO" sz="1760" b="0">
                <a:solidFill>
                  <a:srgbClr val="E2E8F0"/>
                </a:solidFill>
                <a:latin typeface="Arial"/>
              </a:rPr>
              <a:t>y control de tareas en serie.</a:t>
            </a:r>
          </a:p>
        </p:txBody>
      </p:sp>
      <p:sp>
        <p:nvSpPr>
          <p:cNvPr id="10" name="Tarjeta translúcida"/>
          <p:cNvSpPr/>
          <p:nvPr/>
        </p:nvSpPr>
        <p:spPr>
          <a:xfrm>
            <a:off x="5961888" y="3319272"/>
            <a:ext cx="5605272" cy="2331720"/>
          </a:xfrm>
          <a:prstGeom prst="roundRect">
            <a:avLst>
              <a:gd name="adj" fmla="val 10000"/>
            </a:avLst>
          </a:prstGeom>
          <a:solidFill>
            <a:srgbClr val="111827">
              <a:alpha val="90000"/>
            </a:srgbClr>
          </a:solidFill>
          <a:ln w="8890">
            <a:solidFill>
              <a:srgbClr val="00F0FF">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editable"/>
          <p:cNvSpPr txBox="1"/>
          <p:nvPr/>
        </p:nvSpPr>
        <p:spPr>
          <a:xfrm>
            <a:off x="6236208" y="3529584"/>
            <a:ext cx="5120640" cy="292608"/>
          </a:xfrm>
          <a:prstGeom prst="rect">
            <a:avLst/>
          </a:prstGeom>
          <a:noFill/>
        </p:spPr>
        <p:txBody>
          <a:bodyPr wrap="square" lIns="0" tIns="0" rIns="0" bIns="0" anchor="t">
            <a:noAutofit/>
          </a:bodyPr>
          <a:lstStyle/>
          <a:p>
            <a:pPr algn="l">
              <a:lnSpc>
                <a:spcPct val="112000"/>
              </a:lnSpc>
              <a:spcBef>
                <a:spcPts val="0"/>
              </a:spcBef>
              <a:spcAft>
                <a:spcPts val="0"/>
              </a:spcAft>
              <a:defRPr sz="1800" b="1">
                <a:solidFill>
                  <a:srgbClr val="76B900"/>
                </a:solidFill>
                <a:latin typeface="Arial"/>
              </a:defRPr>
            </a:pPr>
            <a:r>
              <a:rPr lang="es-CO" sz="1800" b="1">
                <a:solidFill>
                  <a:srgbClr val="76B900"/>
                </a:solidFill>
                <a:latin typeface="Arial"/>
              </a:rPr>
              <a:t>GPU TESLA T4</a:t>
            </a:r>
          </a:p>
        </p:txBody>
      </p:sp>
      <p:sp>
        <p:nvSpPr>
          <p:cNvPr id="12" name="Texto editable"/>
          <p:cNvSpPr txBox="1"/>
          <p:nvPr/>
        </p:nvSpPr>
        <p:spPr>
          <a:xfrm>
            <a:off x="6190488" y="3886200"/>
            <a:ext cx="5029200" cy="804672"/>
          </a:xfrm>
          <a:prstGeom prst="rect">
            <a:avLst/>
          </a:prstGeom>
          <a:noFill/>
        </p:spPr>
        <p:txBody>
          <a:bodyPr wrap="square" lIns="0" tIns="0" rIns="0" bIns="0" anchor="t">
            <a:noAutofit/>
          </a:bodyPr>
          <a:lstStyle/>
          <a:p>
            <a:pPr algn="l">
              <a:lnSpc>
                <a:spcPct val="112000"/>
              </a:lnSpc>
              <a:spcBef>
                <a:spcPts val="0"/>
              </a:spcBef>
              <a:spcAft>
                <a:spcPts val="0"/>
              </a:spcAft>
              <a:defRPr sz="6200" b="1">
                <a:solidFill>
                  <a:srgbClr val="00F0FF"/>
                </a:solidFill>
                <a:latin typeface="Arial"/>
              </a:defRPr>
            </a:pPr>
            <a:r>
              <a:rPr lang="es-CO" sz="6200" b="1">
                <a:solidFill>
                  <a:srgbClr val="00F0FF"/>
                </a:solidFill>
                <a:latin typeface="Arial"/>
              </a:rPr>
              <a:t>3,4 ms</a:t>
            </a:r>
          </a:p>
        </p:txBody>
      </p:sp>
      <p:sp>
        <p:nvSpPr>
          <p:cNvPr id="13" name="Texto editable"/>
          <p:cNvSpPr txBox="1"/>
          <p:nvPr/>
        </p:nvSpPr>
        <p:spPr>
          <a:xfrm>
            <a:off x="6245352" y="4800600"/>
            <a:ext cx="4937760" cy="640080"/>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Warps de 32 hilos y bloques sobre SM.</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La gama alta puede superar 100 SM.</a:t>
            </a:r>
          </a:p>
        </p:txBody>
      </p:sp>
      <p:sp>
        <p:nvSpPr>
          <p:cNvPr id="14" name="Tarjeta translúcida"/>
          <p:cNvSpPr/>
          <p:nvPr/>
        </p:nvSpPr>
        <p:spPr>
          <a:xfrm>
            <a:off x="1133856" y="4370832"/>
            <a:ext cx="4142232" cy="1207008"/>
          </a:xfrm>
          <a:prstGeom prst="roundRect">
            <a:avLst>
              <a:gd name="adj" fmla="val 10000"/>
            </a:avLst>
          </a:prstGeom>
          <a:solidFill>
            <a:srgbClr val="111827">
              <a:alpha val="72000"/>
            </a:srgbClr>
          </a:solidFill>
          <a:ln w="8890">
            <a:solidFill>
              <a:srgbClr val="76B900">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o editable"/>
          <p:cNvSpPr txBox="1"/>
          <p:nvPr/>
        </p:nvSpPr>
        <p:spPr>
          <a:xfrm>
            <a:off x="1362456" y="4517136"/>
            <a:ext cx="2103120" cy="768096"/>
          </a:xfrm>
          <a:prstGeom prst="rect">
            <a:avLst/>
          </a:prstGeom>
          <a:noFill/>
        </p:spPr>
        <p:txBody>
          <a:bodyPr wrap="square" lIns="0" tIns="0" rIns="0" bIns="0" anchor="t">
            <a:noAutofit/>
          </a:bodyPr>
          <a:lstStyle/>
          <a:p>
            <a:pPr algn="l">
              <a:lnSpc>
                <a:spcPct val="112000"/>
              </a:lnSpc>
              <a:spcBef>
                <a:spcPts val="0"/>
              </a:spcBef>
              <a:spcAft>
                <a:spcPts val="0"/>
              </a:spcAft>
              <a:defRPr sz="5700" b="1">
                <a:solidFill>
                  <a:srgbClr val="76B900"/>
                </a:solidFill>
                <a:latin typeface="Arial"/>
              </a:defRPr>
            </a:pPr>
            <a:r>
              <a:rPr lang="es-CO" sz="5700" b="1">
                <a:solidFill>
                  <a:srgbClr val="76B900"/>
                </a:solidFill>
                <a:latin typeface="Arial"/>
              </a:rPr>
              <a:t>86×</a:t>
            </a:r>
          </a:p>
        </p:txBody>
      </p:sp>
      <p:sp>
        <p:nvSpPr>
          <p:cNvPr id="16" name="Texto editable"/>
          <p:cNvSpPr txBox="1"/>
          <p:nvPr/>
        </p:nvSpPr>
        <p:spPr>
          <a:xfrm>
            <a:off x="3447288" y="4681728"/>
            <a:ext cx="1645920" cy="621792"/>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más rápida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por atención</a:t>
            </a:r>
          </a:p>
        </p:txBody>
      </p:sp>
      <p:sp>
        <p:nvSpPr>
          <p:cNvPr id="17" name="Texto editable"/>
          <p:cNvSpPr txBox="1"/>
          <p:nvPr/>
        </p:nvSpPr>
        <p:spPr>
          <a:xfrm>
            <a:off x="630936" y="6199632"/>
            <a:ext cx="9875520" cy="274320"/>
          </a:xfrm>
          <a:prstGeom prst="rect">
            <a:avLst/>
          </a:prstGeom>
          <a:noFill/>
        </p:spPr>
        <p:txBody>
          <a:bodyPr wrap="square" lIns="0" tIns="0" rIns="0" bIns="0" anchor="t">
            <a:noAutofit/>
          </a:bodyPr>
          <a:lstStyle/>
          <a:p>
            <a:pPr algn="l">
              <a:lnSpc>
                <a:spcPct val="112000"/>
              </a:lnSpc>
              <a:spcBef>
                <a:spcPts val="0"/>
              </a:spcBef>
              <a:spcAft>
                <a:spcPts val="0"/>
              </a:spcAft>
              <a:defRPr sz="1350" b="0">
                <a:solidFill>
                  <a:srgbClr val="A9B5C8"/>
                </a:solidFill>
                <a:latin typeface="Arial"/>
              </a:defRPr>
            </a:pPr>
            <a:r>
              <a:rPr lang="es-CO" sz="1350" b="0">
                <a:solidFill>
                  <a:srgbClr val="A9B5C8"/>
                </a:solidFill>
                <a:latin typeface="Arial"/>
              </a:rPr>
              <a:t>Atención 4.096 × 4.096 · dimensión 64 · media de 10 repeticiones</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4" descr="slide_04.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Ingeniería del Silicio</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04</a:t>
            </a:r>
          </a:p>
        </p:txBody>
      </p:sp>
      <p:sp>
        <p:nvSpPr>
          <p:cNvPr id="6" name="Tarjeta translúcida"/>
          <p:cNvSpPr/>
          <p:nvPr/>
        </p:nvSpPr>
        <p:spPr>
          <a:xfrm>
            <a:off x="603504" y="1490472"/>
            <a:ext cx="5221224" cy="1408176"/>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32104" y="1664207"/>
            <a:ext cx="4764024"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Tiling · memoria cercana</a:t>
            </a:r>
          </a:p>
        </p:txBody>
      </p:sp>
      <p:sp>
        <p:nvSpPr>
          <p:cNvPr id="8" name="Texto editable"/>
          <p:cNvSpPr txBox="1"/>
          <p:nvPr/>
        </p:nvSpPr>
        <p:spPr>
          <a:xfrm>
            <a:off x="832104" y="2112264"/>
            <a:ext cx="4764024" cy="676655"/>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Reutiliza mosaicos en memoria compartida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y reduce accesos repetidos a memoria global.</a:t>
            </a:r>
          </a:p>
        </p:txBody>
      </p:sp>
      <p:sp>
        <p:nvSpPr>
          <p:cNvPr id="9" name="Tarjeta translúcida"/>
          <p:cNvSpPr/>
          <p:nvPr/>
        </p:nvSpPr>
        <p:spPr>
          <a:xfrm>
            <a:off x="1261872" y="3072384"/>
            <a:ext cx="5632704" cy="1408176"/>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editable"/>
          <p:cNvSpPr txBox="1"/>
          <p:nvPr/>
        </p:nvSpPr>
        <p:spPr>
          <a:xfrm>
            <a:off x="1490472" y="3246120"/>
            <a:ext cx="5175504"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Tensor Cores</a:t>
            </a:r>
          </a:p>
        </p:txBody>
      </p:sp>
      <p:sp>
        <p:nvSpPr>
          <p:cNvPr id="11" name="Texto editable"/>
          <p:cNvSpPr txBox="1"/>
          <p:nvPr/>
        </p:nvSpPr>
        <p:spPr>
          <a:xfrm>
            <a:off x="1490472" y="3694176"/>
            <a:ext cx="5175504" cy="676655"/>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Multiplican y acumulan bloques matriciales</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con hardware especializado de alto rendimiento.</a:t>
            </a:r>
          </a:p>
        </p:txBody>
      </p:sp>
      <p:sp>
        <p:nvSpPr>
          <p:cNvPr id="12" name="Tarjeta translúcida"/>
          <p:cNvSpPr/>
          <p:nvPr/>
        </p:nvSpPr>
        <p:spPr>
          <a:xfrm>
            <a:off x="1938528" y="4681728"/>
            <a:ext cx="6437376" cy="1426464"/>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editable"/>
          <p:cNvSpPr txBox="1"/>
          <p:nvPr/>
        </p:nvSpPr>
        <p:spPr>
          <a:xfrm>
            <a:off x="2167128" y="4855464"/>
            <a:ext cx="5980176"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Precisión mixta</a:t>
            </a:r>
          </a:p>
        </p:txBody>
      </p:sp>
      <p:sp>
        <p:nvSpPr>
          <p:cNvPr id="14" name="Texto editable"/>
          <p:cNvSpPr txBox="1"/>
          <p:nvPr/>
        </p:nvSpPr>
        <p:spPr>
          <a:xfrm>
            <a:off x="2167128" y="5303520"/>
            <a:ext cx="5980176" cy="694943"/>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FP16, FP8 y FP4 reducen memoria y tráfico.</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El formato depende del hardware y la tarea.</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5" descr="slide_05.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Ecosistema NVIDIA</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05</a:t>
            </a:r>
          </a:p>
        </p:txBody>
      </p:sp>
      <p:sp>
        <p:nvSpPr>
          <p:cNvPr id="6" name="Texto editable"/>
          <p:cNvSpPr txBox="1"/>
          <p:nvPr/>
        </p:nvSpPr>
        <p:spPr>
          <a:xfrm>
            <a:off x="621792" y="1179576"/>
            <a:ext cx="9326880" cy="320040"/>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A9B5C8"/>
                </a:solidFill>
                <a:latin typeface="Arial"/>
              </a:defRPr>
            </a:pPr>
            <a:r>
              <a:rPr lang="es-CO" sz="1800" b="0">
                <a:solidFill>
                  <a:srgbClr val="A9B5C8"/>
                </a:solidFill>
                <a:latin typeface="Arial"/>
              </a:rPr>
              <a:t>Al crecer el modelo, mover datos decide el rendimiento.</a:t>
            </a:r>
          </a:p>
        </p:txBody>
      </p:sp>
      <p:sp>
        <p:nvSpPr>
          <p:cNvPr id="7" name="Tarjeta translúcida"/>
          <p:cNvSpPr/>
          <p:nvPr/>
        </p:nvSpPr>
        <p:spPr>
          <a:xfrm>
            <a:off x="612648" y="1810512"/>
            <a:ext cx="5175504" cy="1426464"/>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o editable"/>
          <p:cNvSpPr txBox="1"/>
          <p:nvPr/>
        </p:nvSpPr>
        <p:spPr>
          <a:xfrm>
            <a:off x="841248" y="1984248"/>
            <a:ext cx="4718304"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Cerebro y superchip</a:t>
            </a:r>
          </a:p>
        </p:txBody>
      </p:sp>
      <p:sp>
        <p:nvSpPr>
          <p:cNvPr id="9" name="Texto editable"/>
          <p:cNvSpPr txBox="1"/>
          <p:nvPr/>
        </p:nvSpPr>
        <p:spPr>
          <a:xfrm>
            <a:off x="841248" y="2432304"/>
            <a:ext cx="4718304" cy="694943"/>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Blackwell + Grace Arm. NVLink-C2C conecta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CPU y GPU a 900 GB/s.</a:t>
            </a:r>
          </a:p>
        </p:txBody>
      </p:sp>
      <p:sp>
        <p:nvSpPr>
          <p:cNvPr id="10" name="Tarjeta translúcida"/>
          <p:cNvSpPr/>
          <p:nvPr/>
        </p:nvSpPr>
        <p:spPr>
          <a:xfrm>
            <a:off x="1316736" y="3374136"/>
            <a:ext cx="5989320" cy="1426464"/>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o editable"/>
          <p:cNvSpPr txBox="1"/>
          <p:nvPr/>
        </p:nvSpPr>
        <p:spPr>
          <a:xfrm>
            <a:off x="1545336" y="3547872"/>
            <a:ext cx="5532120"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Sistema nervioso</a:t>
            </a:r>
          </a:p>
        </p:txBody>
      </p:sp>
      <p:sp>
        <p:nvSpPr>
          <p:cNvPr id="12" name="Texto editable"/>
          <p:cNvSpPr txBox="1"/>
          <p:nvPr/>
        </p:nvSpPr>
        <p:spPr>
          <a:xfrm>
            <a:off x="1545336" y="3995928"/>
            <a:ext cx="5532120" cy="694943"/>
          </a:xfrm>
          <a:prstGeom prst="rect">
            <a:avLst/>
          </a:prstGeom>
          <a:noFill/>
        </p:spPr>
        <p:txBody>
          <a:bodyPr wrap="square" lIns="0" tIns="0" rIns="0" bIns="0" anchor="t">
            <a:noAutofit/>
          </a:bodyPr>
          <a:lstStyle/>
          <a:p>
            <a:pPr algn="l">
              <a:lnSpc>
                <a:spcPct val="112000"/>
              </a:lnSpc>
              <a:spcBef>
                <a:spcPts val="0"/>
              </a:spcBef>
              <a:spcAft>
                <a:spcPts val="0"/>
              </a:spcAft>
              <a:defRPr sz="1770" b="0">
                <a:solidFill>
                  <a:srgbClr val="E2E8F0"/>
                </a:solidFill>
                <a:latin typeface="Arial"/>
              </a:defRPr>
            </a:pPr>
            <a:r>
              <a:rPr lang="es-CO" sz="1770" b="0">
                <a:solidFill>
                  <a:srgbClr val="E2E8F0"/>
                </a:solidFill>
                <a:latin typeface="Arial"/>
              </a:rPr>
              <a:t>NVLink y NVSwitch: 1,8 TB/s por GPU Blackwell.</a:t>
            </a:r>
          </a:p>
          <a:p>
            <a:pPr algn="l">
              <a:lnSpc>
                <a:spcPct val="112000"/>
              </a:lnSpc>
              <a:spcBef>
                <a:spcPts val="0"/>
              </a:spcBef>
              <a:spcAft>
                <a:spcPts val="0"/>
              </a:spcAft>
              <a:defRPr sz="1770" b="0">
                <a:solidFill>
                  <a:srgbClr val="E2E8F0"/>
                </a:solidFill>
                <a:latin typeface="Arial"/>
              </a:defRPr>
            </a:pPr>
            <a:r>
              <a:rPr lang="es-CO" sz="1770" b="0">
                <a:solidFill>
                  <a:srgbClr val="E2E8F0"/>
                </a:solidFill>
                <a:latin typeface="Arial"/>
              </a:rPr>
              <a:t>Spectrum-X reduce congestión entre servidores.</a:t>
            </a:r>
          </a:p>
        </p:txBody>
      </p:sp>
      <p:sp>
        <p:nvSpPr>
          <p:cNvPr id="13" name="Tarjeta translúcida"/>
          <p:cNvSpPr/>
          <p:nvPr/>
        </p:nvSpPr>
        <p:spPr>
          <a:xfrm>
            <a:off x="2971800" y="4937760"/>
            <a:ext cx="7635240" cy="1371600"/>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o editable"/>
          <p:cNvSpPr txBox="1"/>
          <p:nvPr/>
        </p:nvSpPr>
        <p:spPr>
          <a:xfrm>
            <a:off x="3200400" y="5111496"/>
            <a:ext cx="7178040"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Inmunidad y esqueleto</a:t>
            </a:r>
          </a:p>
        </p:txBody>
      </p:sp>
      <p:sp>
        <p:nvSpPr>
          <p:cNvPr id="15" name="Texto editable"/>
          <p:cNvSpPr txBox="1"/>
          <p:nvPr/>
        </p:nvSpPr>
        <p:spPr>
          <a:xfrm>
            <a:off x="3200400" y="5559552"/>
            <a:ext cx="7178040" cy="640079"/>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BlueField-3 gestiona red y seguridad. GB200 NVL72</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integra 72 GPU Blackwell y 36 CPU Grace.</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6" descr="slide_06.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Revolución DGX Spark</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06</a:t>
            </a:r>
          </a:p>
        </p:txBody>
      </p:sp>
      <p:sp>
        <p:nvSpPr>
          <p:cNvPr id="6" name="Tarjeta translúcida"/>
          <p:cNvSpPr/>
          <p:nvPr/>
        </p:nvSpPr>
        <p:spPr>
          <a:xfrm>
            <a:off x="603504" y="1554480"/>
            <a:ext cx="5577840" cy="1417319"/>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32104" y="1728216"/>
            <a:ext cx="5120640"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GB10 Grace Blackwell</a:t>
            </a:r>
          </a:p>
        </p:txBody>
      </p:sp>
      <p:sp>
        <p:nvSpPr>
          <p:cNvPr id="8" name="Texto editable"/>
          <p:cNvSpPr txBox="1"/>
          <p:nvPr/>
        </p:nvSpPr>
        <p:spPr>
          <a:xfrm>
            <a:off x="832104" y="2176272"/>
            <a:ext cx="5120640" cy="685799"/>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CPU Arm y GPU Blackwell comparten</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memoria coherente mediante NVLink-C2C.</a:t>
            </a:r>
          </a:p>
        </p:txBody>
      </p:sp>
      <p:sp>
        <p:nvSpPr>
          <p:cNvPr id="9" name="Tarjeta translúcida"/>
          <p:cNvSpPr/>
          <p:nvPr/>
        </p:nvSpPr>
        <p:spPr>
          <a:xfrm>
            <a:off x="1188720" y="3172968"/>
            <a:ext cx="5212080" cy="1627632"/>
          </a:xfrm>
          <a:prstGeom prst="roundRect">
            <a:avLst>
              <a:gd name="adj" fmla="val 10000"/>
            </a:avLst>
          </a:prstGeom>
          <a:solidFill>
            <a:srgbClr val="111827">
              <a:alpha val="87000"/>
            </a:srgbClr>
          </a:solidFill>
          <a:ln w="8890">
            <a:solidFill>
              <a:srgbClr val="76B900">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editable"/>
          <p:cNvSpPr txBox="1"/>
          <p:nvPr/>
        </p:nvSpPr>
        <p:spPr>
          <a:xfrm>
            <a:off x="1417320" y="3337560"/>
            <a:ext cx="4480560" cy="658368"/>
          </a:xfrm>
          <a:prstGeom prst="rect">
            <a:avLst/>
          </a:prstGeom>
          <a:noFill/>
        </p:spPr>
        <p:txBody>
          <a:bodyPr wrap="square" lIns="0" tIns="0" rIns="0" bIns="0" anchor="t">
            <a:noAutofit/>
          </a:bodyPr>
          <a:lstStyle/>
          <a:p>
            <a:pPr algn="l">
              <a:lnSpc>
                <a:spcPct val="112000"/>
              </a:lnSpc>
              <a:spcBef>
                <a:spcPts val="0"/>
              </a:spcBef>
              <a:spcAft>
                <a:spcPts val="0"/>
              </a:spcAft>
              <a:defRPr sz="4900" b="1">
                <a:solidFill>
                  <a:srgbClr val="76B900"/>
                </a:solidFill>
                <a:latin typeface="Arial"/>
              </a:defRPr>
            </a:pPr>
            <a:r>
              <a:rPr lang="es-CO" sz="4900" b="1">
                <a:solidFill>
                  <a:srgbClr val="76B900"/>
                </a:solidFill>
                <a:latin typeface="Arial"/>
              </a:rPr>
              <a:t>128 GB</a:t>
            </a:r>
          </a:p>
        </p:txBody>
      </p:sp>
      <p:sp>
        <p:nvSpPr>
          <p:cNvPr id="11" name="Texto editable"/>
          <p:cNvSpPr txBox="1"/>
          <p:nvPr/>
        </p:nvSpPr>
        <p:spPr>
          <a:xfrm>
            <a:off x="1453896" y="4069080"/>
            <a:ext cx="4581144" cy="585216"/>
          </a:xfrm>
          <a:prstGeom prst="rect">
            <a:avLst/>
          </a:prstGeom>
          <a:noFill/>
        </p:spPr>
        <p:txBody>
          <a:bodyPr wrap="square" lIns="0" tIns="0" rIns="0" bIns="0" anchor="t">
            <a:noAutofit/>
          </a:bodyPr>
          <a:lstStyle/>
          <a:p>
            <a:pPr algn="l">
              <a:lnSpc>
                <a:spcPct val="112000"/>
              </a:lnSpc>
              <a:spcBef>
                <a:spcPts val="0"/>
              </a:spcBef>
              <a:spcAft>
                <a:spcPts val="0"/>
              </a:spcAft>
              <a:defRPr sz="1760" b="0">
                <a:solidFill>
                  <a:srgbClr val="E2E8F0"/>
                </a:solidFill>
                <a:latin typeface="Arial"/>
              </a:defRPr>
            </a:pPr>
            <a:r>
              <a:rPr lang="es-CO" sz="1760" b="0">
                <a:solidFill>
                  <a:srgbClr val="E2E8F0"/>
                </a:solidFill>
                <a:latin typeface="Arial"/>
              </a:rPr>
              <a:t>Memoria unificada para alojar modelos</a:t>
            </a:r>
          </a:p>
          <a:p>
            <a:pPr algn="l">
              <a:lnSpc>
                <a:spcPct val="112000"/>
              </a:lnSpc>
              <a:spcBef>
                <a:spcPts val="0"/>
              </a:spcBef>
              <a:spcAft>
                <a:spcPts val="0"/>
              </a:spcAft>
              <a:defRPr sz="1760" b="0">
                <a:solidFill>
                  <a:srgbClr val="E2E8F0"/>
                </a:solidFill>
                <a:latin typeface="Arial"/>
              </a:defRPr>
            </a:pPr>
            <a:r>
              <a:rPr lang="es-CO" sz="1760" b="0">
                <a:solidFill>
                  <a:srgbClr val="E2E8F0"/>
                </a:solidFill>
                <a:latin typeface="Arial"/>
              </a:rPr>
              <a:t>mayores en un equipo compacto.</a:t>
            </a:r>
          </a:p>
        </p:txBody>
      </p:sp>
      <p:sp>
        <p:nvSpPr>
          <p:cNvPr id="12" name="Tarjeta translúcida"/>
          <p:cNvSpPr/>
          <p:nvPr/>
        </p:nvSpPr>
        <p:spPr>
          <a:xfrm>
            <a:off x="1847088" y="4956048"/>
            <a:ext cx="9692640" cy="1271016"/>
          </a:xfrm>
          <a:prstGeom prst="roundRect">
            <a:avLst>
              <a:gd name="adj" fmla="val 10000"/>
            </a:avLst>
          </a:prstGeom>
          <a:solidFill>
            <a:srgbClr val="111827">
              <a:alpha val="91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editable"/>
          <p:cNvSpPr txBox="1"/>
          <p:nvPr/>
        </p:nvSpPr>
        <p:spPr>
          <a:xfrm>
            <a:off x="2103120" y="5148072"/>
            <a:ext cx="3858768" cy="521207"/>
          </a:xfrm>
          <a:prstGeom prst="rect">
            <a:avLst/>
          </a:prstGeom>
          <a:noFill/>
        </p:spPr>
        <p:txBody>
          <a:bodyPr wrap="square" lIns="0" tIns="0" rIns="0" bIns="0" anchor="t">
            <a:noAutofit/>
          </a:bodyPr>
          <a:lstStyle/>
          <a:p>
            <a:pPr algn="l">
              <a:lnSpc>
                <a:spcPct val="112000"/>
              </a:lnSpc>
              <a:spcBef>
                <a:spcPts val="0"/>
              </a:spcBef>
              <a:spcAft>
                <a:spcPts val="0"/>
              </a:spcAft>
              <a:defRPr sz="3100" b="1">
                <a:solidFill>
                  <a:srgbClr val="00F0FF"/>
                </a:solidFill>
                <a:latin typeface="Arial"/>
              </a:defRPr>
            </a:pPr>
            <a:r>
              <a:rPr lang="es-CO" sz="3100" b="1">
                <a:solidFill>
                  <a:srgbClr val="00F0FF"/>
                </a:solidFill>
                <a:latin typeface="Arial"/>
              </a:rPr>
              <a:t>Hasta 1 PFLOP</a:t>
            </a:r>
          </a:p>
        </p:txBody>
      </p:sp>
      <p:sp>
        <p:nvSpPr>
          <p:cNvPr id="14" name="Texto editable"/>
          <p:cNvSpPr txBox="1"/>
          <p:nvPr/>
        </p:nvSpPr>
        <p:spPr>
          <a:xfrm>
            <a:off x="2121408" y="5724144"/>
            <a:ext cx="3758184" cy="274320"/>
          </a:xfrm>
          <a:prstGeom prst="rect">
            <a:avLst/>
          </a:prstGeom>
          <a:noFill/>
        </p:spPr>
        <p:txBody>
          <a:bodyPr wrap="square" lIns="0" tIns="0" rIns="0" bIns="0" anchor="t">
            <a:noAutofit/>
          </a:bodyPr>
          <a:lstStyle/>
          <a:p>
            <a:pPr algn="l">
              <a:lnSpc>
                <a:spcPct val="112000"/>
              </a:lnSpc>
              <a:spcBef>
                <a:spcPts val="0"/>
              </a:spcBef>
              <a:spcAft>
                <a:spcPts val="0"/>
              </a:spcAft>
              <a:defRPr sz="1650" b="0">
                <a:solidFill>
                  <a:srgbClr val="A9B5C8"/>
                </a:solidFill>
                <a:latin typeface="Arial"/>
              </a:defRPr>
            </a:pPr>
            <a:r>
              <a:rPr lang="es-CO" sz="1650" b="0">
                <a:solidFill>
                  <a:srgbClr val="A9B5C8"/>
                </a:solidFill>
                <a:latin typeface="Arial"/>
              </a:rPr>
              <a:t>Pico FP4 con dispersión</a:t>
            </a:r>
          </a:p>
        </p:txBody>
      </p:sp>
      <p:sp>
        <p:nvSpPr>
          <p:cNvPr id="15" name="Texto editable"/>
          <p:cNvSpPr txBox="1"/>
          <p:nvPr/>
        </p:nvSpPr>
        <p:spPr>
          <a:xfrm>
            <a:off x="6281928" y="5330952"/>
            <a:ext cx="4855464" cy="658368"/>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Hasta 200 mil millones de parámetros,</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con cuantización y contexto compatibles.</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7" descr="slide_07.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500" b="1">
                <a:solidFill>
                  <a:srgbClr val="E2E8F0"/>
                </a:solidFill>
                <a:latin typeface="Arial"/>
              </a:defRPr>
            </a:pPr>
            <a:r>
              <a:rPr lang="es-CO" sz="3500" b="1">
                <a:solidFill>
                  <a:srgbClr val="E2E8F0"/>
                </a:solidFill>
                <a:latin typeface="Arial"/>
              </a:rPr>
              <a:t>Dinámica Neuronal</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07</a:t>
            </a:r>
          </a:p>
        </p:txBody>
      </p:sp>
      <p:sp>
        <p:nvSpPr>
          <p:cNvPr id="6" name="Tarjeta translúcida"/>
          <p:cNvSpPr/>
          <p:nvPr/>
        </p:nvSpPr>
        <p:spPr>
          <a:xfrm>
            <a:off x="603504" y="1399032"/>
            <a:ext cx="4306824" cy="1801368"/>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32104" y="1572768"/>
            <a:ext cx="3849624" cy="329184"/>
          </a:xfrm>
          <a:prstGeom prst="rect">
            <a:avLst/>
          </a:prstGeom>
          <a:noFill/>
        </p:spPr>
        <p:txBody>
          <a:bodyPr wrap="square" lIns="0" tIns="0" rIns="0" bIns="0" anchor="t">
            <a:noAutofit/>
          </a:bodyPr>
          <a:lstStyle/>
          <a:p>
            <a:pPr algn="l">
              <a:lnSpc>
                <a:spcPct val="112000"/>
              </a:lnSpc>
              <a:spcBef>
                <a:spcPts val="0"/>
              </a:spcBef>
              <a:spcAft>
                <a:spcPts val="0"/>
              </a:spcAft>
              <a:defRPr sz="2100" b="1">
                <a:solidFill>
                  <a:srgbClr val="00F0FF"/>
                </a:solidFill>
                <a:latin typeface="Arial"/>
              </a:defRPr>
            </a:pPr>
            <a:r>
              <a:rPr lang="es-CO" sz="2100" b="1">
                <a:solidFill>
                  <a:srgbClr val="00F0FF"/>
                </a:solidFill>
                <a:latin typeface="Arial"/>
              </a:rPr>
              <a:t>01  Atención Q, K, V</a:t>
            </a:r>
          </a:p>
        </p:txBody>
      </p:sp>
      <p:sp>
        <p:nvSpPr>
          <p:cNvPr id="8" name="Texto editable"/>
          <p:cNvSpPr txBox="1"/>
          <p:nvPr/>
        </p:nvSpPr>
        <p:spPr>
          <a:xfrm>
            <a:off x="832104" y="2020824"/>
            <a:ext cx="3849624" cy="1069848"/>
          </a:xfrm>
          <a:prstGeom prst="rect">
            <a:avLst/>
          </a:prstGeom>
          <a:noFill/>
        </p:spPr>
        <p:txBody>
          <a:bodyPr wrap="square" lIns="0" tIns="0" rIns="0" bIns="0" anchor="t">
            <a:noAutofit/>
          </a:bodyPr>
          <a:lstStyle/>
          <a:p>
            <a:pPr algn="l">
              <a:lnSpc>
                <a:spcPct val="112000"/>
              </a:lnSpc>
              <a:spcBef>
                <a:spcPts val="0"/>
              </a:spcBef>
              <a:spcAft>
                <a:spcPts val="0"/>
              </a:spcAft>
              <a:defRPr sz="1770" b="0">
                <a:solidFill>
                  <a:srgbClr val="E2E8F0"/>
                </a:solidFill>
                <a:latin typeface="Arial"/>
              </a:defRPr>
            </a:pPr>
            <a:r>
              <a:rPr lang="es-CO" sz="1770" b="0">
                <a:solidFill>
                  <a:srgbClr val="E2E8F0"/>
                </a:solidFill>
                <a:latin typeface="Arial"/>
              </a:rPr>
              <a:t>Productos punto y Softmax conectan</a:t>
            </a:r>
          </a:p>
          <a:p>
            <a:pPr algn="l">
              <a:lnSpc>
                <a:spcPct val="112000"/>
              </a:lnSpc>
              <a:spcBef>
                <a:spcPts val="0"/>
              </a:spcBef>
              <a:spcAft>
                <a:spcPts val="0"/>
              </a:spcAft>
              <a:defRPr sz="1770" b="0">
                <a:solidFill>
                  <a:srgbClr val="E2E8F0"/>
                </a:solidFill>
                <a:latin typeface="Arial"/>
              </a:defRPr>
            </a:pPr>
            <a:r>
              <a:rPr lang="es-CO" sz="1770" b="0">
                <a:solidFill>
                  <a:srgbClr val="E2E8F0"/>
                </a:solidFill>
                <a:latin typeface="Arial"/>
              </a:rPr>
              <a:t>4.096 lectores: Q busca, K identifica</a:t>
            </a:r>
          </a:p>
          <a:p>
            <a:pPr algn="l">
              <a:lnSpc>
                <a:spcPct val="112000"/>
              </a:lnSpc>
              <a:spcBef>
                <a:spcPts val="0"/>
              </a:spcBef>
              <a:spcAft>
                <a:spcPts val="0"/>
              </a:spcAft>
              <a:defRPr sz="1770" b="0">
                <a:solidFill>
                  <a:srgbClr val="E2E8F0"/>
                </a:solidFill>
                <a:latin typeface="Arial"/>
              </a:defRPr>
            </a:pPr>
            <a:r>
              <a:rPr lang="es-CO" sz="1770" b="0">
                <a:solidFill>
                  <a:srgbClr val="E2E8F0"/>
                </a:solidFill>
                <a:latin typeface="Arial"/>
              </a:rPr>
              <a:t>y V aporta contexto.</a:t>
            </a:r>
          </a:p>
        </p:txBody>
      </p:sp>
      <p:sp>
        <p:nvSpPr>
          <p:cNvPr id="9" name="Tarjeta translúcida"/>
          <p:cNvSpPr/>
          <p:nvPr/>
        </p:nvSpPr>
        <p:spPr>
          <a:xfrm>
            <a:off x="3913632" y="3310128"/>
            <a:ext cx="4224528" cy="1581912"/>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editable"/>
          <p:cNvSpPr txBox="1"/>
          <p:nvPr/>
        </p:nvSpPr>
        <p:spPr>
          <a:xfrm>
            <a:off x="4142232" y="3483864"/>
            <a:ext cx="3767328"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02  Forward y pérdida</a:t>
            </a:r>
          </a:p>
        </p:txBody>
      </p:sp>
      <p:sp>
        <p:nvSpPr>
          <p:cNvPr id="11" name="Texto editable"/>
          <p:cNvSpPr txBox="1"/>
          <p:nvPr/>
        </p:nvSpPr>
        <p:spPr>
          <a:xfrm>
            <a:off x="4142232" y="3931920"/>
            <a:ext cx="3767328" cy="850392"/>
          </a:xfrm>
          <a:prstGeom prst="rect">
            <a:avLst/>
          </a:prstGeom>
          <a:noFill/>
        </p:spPr>
        <p:txBody>
          <a:bodyPr wrap="square" lIns="0" tIns="0" rIns="0" bIns="0" anchor="t">
            <a:noAutofit/>
          </a:bodyPr>
          <a:lstStyle/>
          <a:p>
            <a:pPr algn="l">
              <a:lnSpc>
                <a:spcPct val="112000"/>
              </a:lnSpc>
              <a:spcBef>
                <a:spcPts val="0"/>
              </a:spcBef>
              <a:spcAft>
                <a:spcPts val="0"/>
              </a:spcAft>
              <a:defRPr sz="1720" b="0">
                <a:solidFill>
                  <a:srgbClr val="E2E8F0"/>
                </a:solidFill>
                <a:latin typeface="Arial"/>
              </a:defRPr>
            </a:pPr>
            <a:r>
              <a:rPr lang="es-CO" sz="1720" b="0">
                <a:solidFill>
                  <a:srgbClr val="E2E8F0"/>
                </a:solidFill>
                <a:latin typeface="Arial"/>
              </a:rPr>
              <a:t>Pesos W y activaciones ReLU/GELU.</a:t>
            </a:r>
          </a:p>
          <a:p>
            <a:pPr algn="l">
              <a:lnSpc>
                <a:spcPct val="112000"/>
              </a:lnSpc>
              <a:spcBef>
                <a:spcPts val="0"/>
              </a:spcBef>
              <a:spcAft>
                <a:spcPts val="0"/>
              </a:spcAft>
              <a:defRPr sz="1720" b="0">
                <a:solidFill>
                  <a:srgbClr val="E2E8F0"/>
                </a:solidFill>
                <a:latin typeface="Arial"/>
              </a:defRPr>
            </a:pPr>
            <a:r>
              <a:rPr lang="es-CO" sz="1720" b="0">
                <a:solidFill>
                  <a:srgbClr val="E2E8F0"/>
                </a:solidFill>
                <a:latin typeface="Arial"/>
              </a:rPr>
              <a:t>La pérdida mide el error.</a:t>
            </a:r>
          </a:p>
        </p:txBody>
      </p:sp>
      <p:sp>
        <p:nvSpPr>
          <p:cNvPr id="12" name="Tarjeta translúcida"/>
          <p:cNvSpPr/>
          <p:nvPr/>
        </p:nvSpPr>
        <p:spPr>
          <a:xfrm>
            <a:off x="7882127" y="4736592"/>
            <a:ext cx="3721608" cy="1591056"/>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editable"/>
          <p:cNvSpPr txBox="1"/>
          <p:nvPr/>
        </p:nvSpPr>
        <p:spPr>
          <a:xfrm>
            <a:off x="8110727" y="4910328"/>
            <a:ext cx="3264408" cy="329184"/>
          </a:xfrm>
          <a:prstGeom prst="rect">
            <a:avLst/>
          </a:prstGeom>
          <a:noFill/>
        </p:spPr>
        <p:txBody>
          <a:bodyPr wrap="square" lIns="0" tIns="0" rIns="0" bIns="0" anchor="t">
            <a:noAutofit/>
          </a:bodyPr>
          <a:lstStyle/>
          <a:p>
            <a:pPr algn="l">
              <a:lnSpc>
                <a:spcPct val="112000"/>
              </a:lnSpc>
              <a:spcBef>
                <a:spcPts val="0"/>
              </a:spcBef>
              <a:spcAft>
                <a:spcPts val="0"/>
              </a:spcAft>
              <a:defRPr sz="1900" b="1">
                <a:solidFill>
                  <a:srgbClr val="76B900"/>
                </a:solidFill>
                <a:latin typeface="Arial"/>
              </a:defRPr>
            </a:pPr>
            <a:r>
              <a:rPr lang="es-CO" sz="1900" b="1">
                <a:solidFill>
                  <a:srgbClr val="76B900"/>
                </a:solidFill>
                <a:latin typeface="Arial"/>
              </a:rPr>
              <a:t>03  Backpropagation</a:t>
            </a:r>
          </a:p>
        </p:txBody>
      </p:sp>
      <p:sp>
        <p:nvSpPr>
          <p:cNvPr id="14" name="Texto editable"/>
          <p:cNvSpPr txBox="1"/>
          <p:nvPr/>
        </p:nvSpPr>
        <p:spPr>
          <a:xfrm>
            <a:off x="8110727" y="5358383"/>
            <a:ext cx="3264408" cy="859536"/>
          </a:xfrm>
          <a:prstGeom prst="rect">
            <a:avLst/>
          </a:prstGeom>
          <a:noFill/>
        </p:spPr>
        <p:txBody>
          <a:bodyPr wrap="square" lIns="0" tIns="0" rIns="0" bIns="0" anchor="t">
            <a:noAutofit/>
          </a:bodyPr>
          <a:lstStyle/>
          <a:p>
            <a:pPr algn="l">
              <a:lnSpc>
                <a:spcPct val="112000"/>
              </a:lnSpc>
              <a:spcBef>
                <a:spcPts val="0"/>
              </a:spcBef>
              <a:spcAft>
                <a:spcPts val="0"/>
              </a:spcAft>
              <a:defRPr sz="1660" b="0">
                <a:solidFill>
                  <a:srgbClr val="E2E8F0"/>
                </a:solidFill>
                <a:latin typeface="Arial"/>
              </a:defRPr>
            </a:pPr>
            <a:r>
              <a:rPr lang="es-CO" sz="1660" b="0">
                <a:solidFill>
                  <a:srgbClr val="E2E8F0"/>
                </a:solidFill>
                <a:latin typeface="Arial"/>
              </a:rPr>
              <a:t>Gradientes para ajustar pesos.</a:t>
            </a:r>
          </a:p>
          <a:p>
            <a:pPr algn="l">
              <a:lnSpc>
                <a:spcPct val="112000"/>
              </a:lnSpc>
              <a:spcBef>
                <a:spcPts val="0"/>
              </a:spcBef>
              <a:spcAft>
                <a:spcPts val="0"/>
              </a:spcAft>
              <a:defRPr sz="1660" b="0">
                <a:solidFill>
                  <a:srgbClr val="E2E8F0"/>
                </a:solidFill>
                <a:latin typeface="Arial"/>
              </a:defRPr>
            </a:pPr>
            <a:r>
              <a:rPr lang="es-CO" sz="1660" b="0">
                <a:solidFill>
                  <a:srgbClr val="E2E8F0"/>
                </a:solidFill>
                <a:latin typeface="Arial"/>
              </a:rPr>
              <a:t>Costo aproximado:</a:t>
            </a:r>
          </a:p>
          <a:p>
            <a:pPr algn="l">
              <a:lnSpc>
                <a:spcPct val="112000"/>
              </a:lnSpc>
              <a:spcBef>
                <a:spcPts val="0"/>
              </a:spcBef>
              <a:spcAft>
                <a:spcPts val="0"/>
              </a:spcAft>
              <a:defRPr sz="1660" b="0">
                <a:solidFill>
                  <a:srgbClr val="E2E8F0"/>
                </a:solidFill>
                <a:latin typeface="Arial"/>
              </a:defRPr>
            </a:pPr>
            <a:r>
              <a:rPr lang="es-CO" sz="1660" b="0">
                <a:solidFill>
                  <a:srgbClr val="E2E8F0"/>
                </a:solidFill>
                <a:latin typeface="Arial"/>
              </a:rPr>
              <a:t>2× el cálculo del forward.</a:t>
            </a:r>
          </a:p>
        </p:txBody>
      </p:sp>
      <p:sp>
        <p:nvSpPr>
          <p:cNvPr id="15" name="Tarjeta translúcida"/>
          <p:cNvSpPr/>
          <p:nvPr/>
        </p:nvSpPr>
        <p:spPr>
          <a:xfrm>
            <a:off x="612648" y="4983480"/>
            <a:ext cx="6675120" cy="1170432"/>
          </a:xfrm>
          <a:prstGeom prst="roundRect">
            <a:avLst>
              <a:gd name="adj" fmla="val 10000"/>
            </a:avLst>
          </a:prstGeom>
          <a:solidFill>
            <a:srgbClr val="111827">
              <a:alpha val="92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o editable"/>
          <p:cNvSpPr txBox="1"/>
          <p:nvPr/>
        </p:nvSpPr>
        <p:spPr>
          <a:xfrm>
            <a:off x="850392" y="5129784"/>
            <a:ext cx="6126480" cy="256032"/>
          </a:xfrm>
          <a:prstGeom prst="rect">
            <a:avLst/>
          </a:prstGeom>
          <a:noFill/>
        </p:spPr>
        <p:txBody>
          <a:bodyPr wrap="square" lIns="0" tIns="0" rIns="0" bIns="0" anchor="t">
            <a:noAutofit/>
          </a:bodyPr>
          <a:lstStyle/>
          <a:p>
            <a:pPr algn="l">
              <a:lnSpc>
                <a:spcPct val="112000"/>
              </a:lnSpc>
              <a:spcBef>
                <a:spcPts val="0"/>
              </a:spcBef>
              <a:spcAft>
                <a:spcPts val="0"/>
              </a:spcAft>
              <a:defRPr sz="1360" b="1">
                <a:solidFill>
                  <a:srgbClr val="A9B5C8"/>
                </a:solidFill>
                <a:latin typeface="Arial"/>
              </a:defRPr>
            </a:pPr>
            <a:r>
              <a:rPr lang="es-CO" sz="1360" b="1">
                <a:solidFill>
                  <a:srgbClr val="A9B5C8"/>
                </a:solidFill>
                <a:latin typeface="Arial"/>
              </a:rPr>
              <a:t>CAPA 4.096 × 4.096 · LOTE DE 1.024</a:t>
            </a:r>
          </a:p>
        </p:txBody>
      </p:sp>
      <p:sp>
        <p:nvSpPr>
          <p:cNvPr id="17" name="Texto editable"/>
          <p:cNvSpPr txBox="1"/>
          <p:nvPr/>
        </p:nvSpPr>
        <p:spPr>
          <a:xfrm>
            <a:off x="841248" y="5449824"/>
            <a:ext cx="1335024" cy="576072"/>
          </a:xfrm>
          <a:prstGeom prst="rect">
            <a:avLst/>
          </a:prstGeom>
          <a:noFill/>
        </p:spPr>
        <p:txBody>
          <a:bodyPr wrap="square" lIns="0" tIns="0" rIns="0" bIns="0" anchor="t">
            <a:noAutofit/>
          </a:bodyPr>
          <a:lstStyle/>
          <a:p>
            <a:pPr algn="l">
              <a:lnSpc>
                <a:spcPct val="112000"/>
              </a:lnSpc>
              <a:spcBef>
                <a:spcPts val="0"/>
              </a:spcBef>
              <a:spcAft>
                <a:spcPts val="0"/>
              </a:spcAft>
              <a:defRPr sz="4400" b="1">
                <a:solidFill>
                  <a:srgbClr val="00F0FF"/>
                </a:solidFill>
                <a:latin typeface="Arial"/>
              </a:defRPr>
            </a:pPr>
            <a:r>
              <a:rPr lang="es-CO" sz="4400" b="1">
                <a:solidFill>
                  <a:srgbClr val="00F0FF"/>
                </a:solidFill>
                <a:latin typeface="Arial"/>
              </a:rPr>
              <a:t>34</a:t>
            </a:r>
          </a:p>
        </p:txBody>
      </p:sp>
      <p:sp>
        <p:nvSpPr>
          <p:cNvPr id="18" name="Texto editable"/>
          <p:cNvSpPr txBox="1"/>
          <p:nvPr/>
        </p:nvSpPr>
        <p:spPr>
          <a:xfrm>
            <a:off x="2276856" y="5495544"/>
            <a:ext cx="4727448" cy="530352"/>
          </a:xfrm>
          <a:prstGeom prst="rect">
            <a:avLst/>
          </a:prstGeom>
          <a:noFill/>
        </p:spPr>
        <p:txBody>
          <a:bodyPr wrap="square" lIns="0" tIns="0" rIns="0" bIns="0" anchor="t">
            <a:noAutofit/>
          </a:bodyPr>
          <a:lstStyle/>
          <a:p>
            <a:pPr algn="l">
              <a:lnSpc>
                <a:spcPct val="112000"/>
              </a:lnSpc>
              <a:spcBef>
                <a:spcPts val="0"/>
              </a:spcBef>
              <a:spcAft>
                <a:spcPts val="0"/>
              </a:spcAft>
              <a:defRPr sz="1710" b="0">
                <a:solidFill>
                  <a:srgbClr val="E2E8F0"/>
                </a:solidFill>
                <a:latin typeface="Arial"/>
              </a:defRPr>
            </a:pPr>
            <a:r>
              <a:rPr lang="es-CO" sz="1710" b="0">
                <a:solidFill>
                  <a:srgbClr val="E2E8F0"/>
                </a:solidFill>
                <a:latin typeface="Arial"/>
              </a:rPr>
              <a:t>mil millones de operaciones en forward</a:t>
            </a:r>
          </a:p>
          <a:p>
            <a:pPr algn="l">
              <a:lnSpc>
                <a:spcPct val="112000"/>
              </a:lnSpc>
              <a:spcBef>
                <a:spcPts val="0"/>
              </a:spcBef>
              <a:spcAft>
                <a:spcPts val="0"/>
              </a:spcAft>
              <a:defRPr sz="1710" b="0">
                <a:solidFill>
                  <a:srgbClr val="E2E8F0"/>
                </a:solidFill>
                <a:latin typeface="Arial"/>
              </a:defRPr>
            </a:pPr>
            <a:r>
              <a:rPr lang="es-CO" sz="1710" b="0">
                <a:solidFill>
                  <a:srgbClr val="E2E8F0"/>
                </a:solidFill>
                <a:latin typeface="Arial"/>
              </a:rPr>
              <a:t>≈ 68 mil millones en backward</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90E"/>
        </a:solidFill>
        <a:effectLst/>
      </p:bgPr>
    </p:bg>
    <p:spTree>
      <p:nvGrpSpPr>
        <p:cNvPr id="1" name=""/>
        <p:cNvGrpSpPr/>
        <p:nvPr/>
      </p:nvGrpSpPr>
      <p:grpSpPr>
        <a:xfrm>
          <a:off x="0" y="0"/>
          <a:ext cx="0" cy="0"/>
          <a:chOff x="0" y="0"/>
          <a:chExt cx="0" cy="0"/>
        </a:xfrm>
      </p:grpSpPr>
      <p:pic>
        <p:nvPicPr>
          <p:cNvPr id="2" name="Ilustración abstracta original 8" descr="slide_08.png"/>
          <p:cNvPicPr>
            <a:picLocks noChangeAspect="1"/>
          </p:cNvPicPr>
          <p:nvPr/>
        </p:nvPicPr>
        <p:blipFill>
          <a:blip r:embed="rId3"/>
          <a:stretch>
            <a:fillRect/>
          </a:stretch>
        </p:blipFill>
        <p:spPr>
          <a:xfrm>
            <a:off x="0" y="0"/>
            <a:ext cx="12192000" cy="6858000"/>
          </a:xfrm>
          <a:prstGeom prst="rect">
            <a:avLst/>
          </a:prstGeom>
        </p:spPr>
      </p:pic>
      <p:sp>
        <p:nvSpPr>
          <p:cNvPr id="3" name="Tarjeta translúcida"/>
          <p:cNvSpPr/>
          <p:nvPr/>
        </p:nvSpPr>
        <p:spPr>
          <a:xfrm>
            <a:off x="0" y="0"/>
            <a:ext cx="12192000" cy="6858000"/>
          </a:xfrm>
          <a:prstGeom prst="rect">
            <a:avLst/>
          </a:prstGeom>
          <a:solidFill>
            <a:srgbClr val="07090E">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ítulo"/>
          <p:cNvSpPr txBox="1"/>
          <p:nvPr/>
        </p:nvSpPr>
        <p:spPr>
          <a:xfrm>
            <a:off x="594360" y="475488"/>
            <a:ext cx="10515600" cy="658368"/>
          </a:xfrm>
          <a:prstGeom prst="rect">
            <a:avLst/>
          </a:prstGeom>
          <a:noFill/>
        </p:spPr>
        <p:txBody>
          <a:bodyPr wrap="square" lIns="0" tIns="0" rIns="0" bIns="0" anchor="t">
            <a:noAutofit/>
          </a:bodyPr>
          <a:lstStyle/>
          <a:p>
            <a:pPr algn="l">
              <a:lnSpc>
                <a:spcPct val="112000"/>
              </a:lnSpc>
              <a:spcBef>
                <a:spcPts val="0"/>
              </a:spcBef>
              <a:spcAft>
                <a:spcPts val="0"/>
              </a:spcAft>
              <a:defRPr sz="3400" b="1">
                <a:solidFill>
                  <a:srgbClr val="E2E8F0"/>
                </a:solidFill>
                <a:latin typeface="Arial"/>
              </a:defRPr>
            </a:pPr>
            <a:r>
              <a:rPr lang="es-CO" sz="3400" b="1">
                <a:solidFill>
                  <a:srgbClr val="E2E8F0"/>
                </a:solidFill>
                <a:latin typeface="Arial"/>
              </a:rPr>
              <a:t>Inferencia Local en Vivo</a:t>
            </a:r>
          </a:p>
        </p:txBody>
      </p:sp>
      <p:sp>
        <p:nvSpPr>
          <p:cNvPr id="5" name="Número de diapositiva"/>
          <p:cNvSpPr txBox="1"/>
          <p:nvPr/>
        </p:nvSpPr>
        <p:spPr>
          <a:xfrm>
            <a:off x="11073384" y="6382512"/>
            <a:ext cx="530352" cy="210312"/>
          </a:xfrm>
          <a:prstGeom prst="rect">
            <a:avLst/>
          </a:prstGeom>
          <a:noFill/>
        </p:spPr>
        <p:txBody>
          <a:bodyPr wrap="square" lIns="0" tIns="0" rIns="0" bIns="0" anchor="t">
            <a:noAutofit/>
          </a:bodyPr>
          <a:lstStyle/>
          <a:p>
            <a:pPr algn="r">
              <a:lnSpc>
                <a:spcPct val="112000"/>
              </a:lnSpc>
              <a:spcBef>
                <a:spcPts val="0"/>
              </a:spcBef>
              <a:spcAft>
                <a:spcPts val="0"/>
              </a:spcAft>
              <a:defRPr sz="1200" b="0">
                <a:solidFill>
                  <a:srgbClr val="A9B5C8"/>
                </a:solidFill>
                <a:latin typeface="Arial"/>
              </a:defRPr>
            </a:pPr>
            <a:r>
              <a:rPr lang="es-CO" sz="1200" b="0">
                <a:solidFill>
                  <a:srgbClr val="A9B5C8"/>
                </a:solidFill>
                <a:latin typeface="Arial"/>
              </a:rPr>
              <a:t>08</a:t>
            </a:r>
          </a:p>
        </p:txBody>
      </p:sp>
      <p:sp>
        <p:nvSpPr>
          <p:cNvPr id="6" name="Tarjeta translúcida"/>
          <p:cNvSpPr/>
          <p:nvPr/>
        </p:nvSpPr>
        <p:spPr>
          <a:xfrm>
            <a:off x="603504" y="1554480"/>
            <a:ext cx="5239512" cy="1453895"/>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o editable"/>
          <p:cNvSpPr txBox="1"/>
          <p:nvPr/>
        </p:nvSpPr>
        <p:spPr>
          <a:xfrm>
            <a:off x="832104" y="1728216"/>
            <a:ext cx="4782312"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Entorno local</a:t>
            </a:r>
          </a:p>
        </p:txBody>
      </p:sp>
      <p:sp>
        <p:nvSpPr>
          <p:cNvPr id="8" name="Texto editable"/>
          <p:cNvSpPr txBox="1"/>
          <p:nvPr/>
        </p:nvSpPr>
        <p:spPr>
          <a:xfrm>
            <a:off x="832104" y="2176272"/>
            <a:ext cx="4782312" cy="722375"/>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Windows y NVIDIA RTX ejecutan el modelo,</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sin APIs de inferencia en la nube.</a:t>
            </a:r>
          </a:p>
        </p:txBody>
      </p:sp>
      <p:sp>
        <p:nvSpPr>
          <p:cNvPr id="9" name="Tarjeta translúcida"/>
          <p:cNvSpPr/>
          <p:nvPr/>
        </p:nvSpPr>
        <p:spPr>
          <a:xfrm>
            <a:off x="1152144" y="3172968"/>
            <a:ext cx="5312664" cy="1444752"/>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o editable"/>
          <p:cNvSpPr txBox="1"/>
          <p:nvPr/>
        </p:nvSpPr>
        <p:spPr>
          <a:xfrm>
            <a:off x="1380744" y="3346704"/>
            <a:ext cx="4855464"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00F0FF"/>
                </a:solidFill>
                <a:latin typeface="Arial"/>
              </a:defRPr>
            </a:pPr>
            <a:r>
              <a:rPr lang="es-CO" sz="2000" b="1">
                <a:solidFill>
                  <a:srgbClr val="00F0FF"/>
                </a:solidFill>
                <a:latin typeface="Arial"/>
              </a:rPr>
              <a:t>Grafo en tiempo real</a:t>
            </a:r>
          </a:p>
        </p:txBody>
      </p:sp>
      <p:sp>
        <p:nvSpPr>
          <p:cNvPr id="11" name="Texto editable"/>
          <p:cNvSpPr txBox="1"/>
          <p:nvPr/>
        </p:nvSpPr>
        <p:spPr>
          <a:xfrm>
            <a:off x="1380744" y="3794760"/>
            <a:ext cx="4855464" cy="713231"/>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Una representación conceptual muestra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el flujo de contexto entre bloques del modelo.</a:t>
            </a:r>
          </a:p>
        </p:txBody>
      </p:sp>
      <p:sp>
        <p:nvSpPr>
          <p:cNvPr id="12" name="Tarjeta translúcida"/>
          <p:cNvSpPr/>
          <p:nvPr/>
        </p:nvSpPr>
        <p:spPr>
          <a:xfrm>
            <a:off x="1828800" y="4773168"/>
            <a:ext cx="6117336" cy="1444752"/>
          </a:xfrm>
          <a:prstGeom prst="roundRect">
            <a:avLst>
              <a:gd name="adj" fmla="val 10000"/>
            </a:avLst>
          </a:prstGeom>
          <a:solidFill>
            <a:srgbClr val="111827">
              <a:alpha val="84000"/>
            </a:srgbClr>
          </a:solidFill>
          <a:ln w="8890">
            <a:solidFill>
              <a:srgbClr val="45566E">
                <a:alpha val="5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o editable"/>
          <p:cNvSpPr txBox="1"/>
          <p:nvPr/>
        </p:nvSpPr>
        <p:spPr>
          <a:xfrm>
            <a:off x="2057400" y="4946904"/>
            <a:ext cx="5660136" cy="329184"/>
          </a:xfrm>
          <a:prstGeom prst="rect">
            <a:avLst/>
          </a:prstGeom>
          <a:noFill/>
        </p:spPr>
        <p:txBody>
          <a:bodyPr wrap="square" lIns="0" tIns="0" rIns="0" bIns="0" anchor="t">
            <a:noAutofit/>
          </a:bodyPr>
          <a:lstStyle/>
          <a:p>
            <a:pPr algn="l">
              <a:lnSpc>
                <a:spcPct val="112000"/>
              </a:lnSpc>
              <a:spcBef>
                <a:spcPts val="0"/>
              </a:spcBef>
              <a:spcAft>
                <a:spcPts val="0"/>
              </a:spcAft>
              <a:defRPr sz="2000" b="1">
                <a:solidFill>
                  <a:srgbClr val="76B900"/>
                </a:solidFill>
                <a:latin typeface="Arial"/>
              </a:defRPr>
            </a:pPr>
            <a:r>
              <a:rPr lang="es-CO" sz="2000" b="1">
                <a:solidFill>
                  <a:srgbClr val="76B900"/>
                </a:solidFill>
                <a:latin typeface="Arial"/>
              </a:rPr>
              <a:t>Activación en vivo</a:t>
            </a:r>
          </a:p>
        </p:txBody>
      </p:sp>
      <p:sp>
        <p:nvSpPr>
          <p:cNvPr id="14" name="Texto editable"/>
          <p:cNvSpPr txBox="1"/>
          <p:nvPr/>
        </p:nvSpPr>
        <p:spPr>
          <a:xfrm>
            <a:off x="2057400" y="5394959"/>
            <a:ext cx="5660136" cy="713231"/>
          </a:xfrm>
          <a:prstGeom prst="rect">
            <a:avLst/>
          </a:prstGeom>
          <a:noFill/>
        </p:spPr>
        <p:txBody>
          <a:bodyPr wrap="square" lIns="0" tIns="0" rIns="0" bIns="0" anchor="t">
            <a:noAutofit/>
          </a:bodyPr>
          <a:lstStyle/>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Consultar el modelo y observar VRAM, latencia</a:t>
            </a:r>
          </a:p>
          <a:p>
            <a:pPr algn="l">
              <a:lnSpc>
                <a:spcPct val="112000"/>
              </a:lnSpc>
              <a:spcBef>
                <a:spcPts val="0"/>
              </a:spcBef>
              <a:spcAft>
                <a:spcPts val="0"/>
              </a:spcAft>
              <a:defRPr sz="1800" b="0">
                <a:solidFill>
                  <a:srgbClr val="E2E8F0"/>
                </a:solidFill>
                <a:latin typeface="Arial"/>
              </a:defRPr>
            </a:pPr>
            <a:r>
              <a:rPr lang="es-CO" sz="1800" b="0">
                <a:solidFill>
                  <a:srgbClr val="E2E8F0"/>
                </a:solidFill>
                <a:latin typeface="Arial"/>
              </a:rPr>
              <a:t>y nodos activados durante la demostración.</a:t>
            </a:r>
          </a:p>
        </p:txBody>
      </p:sp>
      <p:pic>
        <p:nvPicPr>
          <p:cNvPr id="15" name="NVIDIA, marca de referencia" descr="nvidia_logo.png"/>
          <p:cNvPicPr>
            <a:picLocks noChangeAspect="1"/>
          </p:cNvPicPr>
          <p:nvPr/>
        </p:nvPicPr>
        <p:blipFill>
          <a:blip r:embed="rId4"/>
          <a:stretch>
            <a:fillRect/>
          </a:stretch>
        </p:blipFill>
        <p:spPr>
          <a:xfrm>
            <a:off x="9829800" y="594360"/>
            <a:ext cx="1719072" cy="317073"/>
          </a:xfrm>
          <a:prstGeom prst="rect">
            <a:avLst/>
          </a:prstGeom>
        </p:spPr>
      </p:pic>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1591</Words>
  <Application>Microsoft Office PowerPoint</Application>
  <PresentationFormat>Panorámica</PresentationFormat>
  <Paragraphs>135</Paragraphs>
  <Slides>8</Slides>
  <Notes>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8</vt:i4>
      </vt:variant>
    </vt:vector>
  </HeadingPairs>
  <TitlesOfParts>
    <vt:vector size="11"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Arquitectura GPU</dc:title>
  <dc:subject>El Motor Físico del Aprendizaje Profundo</dc:subject>
  <dc:creator>Anthoni Hernández;Andrés Santiago Marín;Laura Valentina</dc:creator>
  <cp:keywords>GPU, NVIDIA, Transformers, atención, Tensor Cores, paralelismo</cp:keywords>
  <dc:description>Presentación técnica de ocho diapositivas con ilustraciones conceptuales originales.</dc:description>
  <cp:lastModifiedBy>Laura Valentina Ortiz Villamizar</cp:lastModifiedBy>
  <cp:revision>2</cp:revision>
  <dcterms:created xsi:type="dcterms:W3CDTF">2013-01-27T09:14:16Z</dcterms:created>
  <dcterms:modified xsi:type="dcterms:W3CDTF">2026-10-16T16:13:01Z</dcterms:modified>
  <cp:category/>
</cp:coreProperties>
</file>